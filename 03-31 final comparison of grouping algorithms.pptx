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366" r:id="rId3"/>
    <p:sldId id="367" r:id="rId4"/>
    <p:sldId id="368" r:id="rId5"/>
    <p:sldId id="369" r:id="rId6"/>
    <p:sldId id="370" r:id="rId7"/>
    <p:sldId id="373" r:id="rId8"/>
    <p:sldId id="372" r:id="rId9"/>
    <p:sldId id="374" r:id="rId10"/>
    <p:sldId id="336" r:id="rId11"/>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724"/>
    <a:srgbClr val="7FBF7F"/>
    <a:srgbClr val="000000"/>
    <a:srgbClr val="000061"/>
    <a:srgbClr val="3F5FBF"/>
    <a:srgbClr val="A08E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94660"/>
  </p:normalViewPr>
  <p:slideViewPr>
    <p:cSldViewPr snapToGrid="0">
      <p:cViewPr varScale="1">
        <p:scale>
          <a:sx n="150" d="100"/>
          <a:sy n="150" d="100"/>
        </p:scale>
        <p:origin x="113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 Terenzi" userId="84fc0911-cfdc-4e75-8c37-ab8a29f2d44c" providerId="ADAL" clId="{20F998DB-463F-4ED8-B8BC-E0404F8780EA}"/>
    <pc:docChg chg="undo custSel addSld modSld">
      <pc:chgData name="Luca Terenzi" userId="84fc0911-cfdc-4e75-8c37-ab8a29f2d44c" providerId="ADAL" clId="{20F998DB-463F-4ED8-B8BC-E0404F8780EA}" dt="2026-02-19T09:02:43.395" v="6" actId="14100"/>
      <pc:docMkLst>
        <pc:docMk/>
      </pc:docMkLst>
      <pc:sldChg chg="modSp mod">
        <pc:chgData name="Luca Terenzi" userId="84fc0911-cfdc-4e75-8c37-ab8a29f2d44c" providerId="ADAL" clId="{20F998DB-463F-4ED8-B8BC-E0404F8780EA}" dt="2026-02-19T09:02:43.395" v="6" actId="14100"/>
        <pc:sldMkLst>
          <pc:docMk/>
          <pc:sldMk cId="789150671" sldId="372"/>
        </pc:sldMkLst>
        <pc:picChg chg="mod">
          <ac:chgData name="Luca Terenzi" userId="84fc0911-cfdc-4e75-8c37-ab8a29f2d44c" providerId="ADAL" clId="{20F998DB-463F-4ED8-B8BC-E0404F8780EA}" dt="2026-02-19T09:02:43.395" v="6" actId="14100"/>
          <ac:picMkLst>
            <pc:docMk/>
            <pc:sldMk cId="789150671" sldId="372"/>
            <ac:picMk id="8" creationId="{A9EC9348-DDB4-27C2-89A0-0ED482F1B5B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B7D762-8814-419D-87DA-44CF1B49AEB3}" type="datetimeFigureOut">
              <a:rPr lang="en-SE" smtClean="0"/>
              <a:t>2026-02-19</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E03E7-9003-4F67-A502-E9F487806621}" type="slidenum">
              <a:rPr lang="en-SE" smtClean="0"/>
              <a:t>‹#›</a:t>
            </a:fld>
            <a:endParaRPr lang="en-SE"/>
          </a:p>
        </p:txBody>
      </p:sp>
    </p:spTree>
    <p:extLst>
      <p:ext uri="{BB962C8B-B14F-4D97-AF65-F5344CB8AC3E}">
        <p14:creationId xmlns:p14="http://schemas.microsoft.com/office/powerpoint/2010/main" val="3849988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496E03E7-9003-4F67-A502-E9F487806621}" type="slidenum">
              <a:rPr lang="en-SE" smtClean="0"/>
              <a:t>1</a:t>
            </a:fld>
            <a:endParaRPr lang="en-SE"/>
          </a:p>
        </p:txBody>
      </p:sp>
    </p:spTree>
    <p:extLst>
      <p:ext uri="{BB962C8B-B14F-4D97-AF65-F5344CB8AC3E}">
        <p14:creationId xmlns:p14="http://schemas.microsoft.com/office/powerpoint/2010/main" val="2706304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0DFAB-66B7-EB22-5492-82668CCF3E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88BC6B-AE61-CCD9-DC13-7C9F6D4D4A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8DB31E-F583-CF9E-080A-058D96CAD79D}"/>
              </a:ext>
            </a:extLst>
          </p:cNvPr>
          <p:cNvSpPr>
            <a:spLocks noGrp="1"/>
          </p:cNvSpPr>
          <p:nvPr>
            <p:ph type="body" idx="1"/>
          </p:nvPr>
        </p:nvSpPr>
        <p:spPr/>
        <p:txBody>
          <a:bodyPr/>
          <a:lstStyle/>
          <a:p>
            <a:r>
              <a:rPr lang="en-GB" dirty="0"/>
              <a:t>Put notes on all slides that could come often in case of questions like specifics on the experiments or things like that and remove this</a:t>
            </a:r>
            <a:endParaRPr lang="en-SE" dirty="0"/>
          </a:p>
        </p:txBody>
      </p:sp>
      <p:sp>
        <p:nvSpPr>
          <p:cNvPr id="4" name="Slide Number Placeholder 3">
            <a:extLst>
              <a:ext uri="{FF2B5EF4-FFF2-40B4-BE49-F238E27FC236}">
                <a16:creationId xmlns:a16="http://schemas.microsoft.com/office/drawing/2014/main" id="{EBB2FFD9-D6B7-4F5F-A76E-A648ECAF01B9}"/>
              </a:ext>
            </a:extLst>
          </p:cNvPr>
          <p:cNvSpPr>
            <a:spLocks noGrp="1"/>
          </p:cNvSpPr>
          <p:nvPr>
            <p:ph type="sldNum" sz="quarter" idx="5"/>
          </p:nvPr>
        </p:nvSpPr>
        <p:spPr/>
        <p:txBody>
          <a:bodyPr/>
          <a:lstStyle/>
          <a:p>
            <a:fld id="{496E03E7-9003-4F67-A502-E9F487806621}" type="slidenum">
              <a:rPr lang="en-SE" smtClean="0"/>
              <a:t>10</a:t>
            </a:fld>
            <a:endParaRPr lang="en-SE"/>
          </a:p>
        </p:txBody>
      </p:sp>
    </p:spTree>
    <p:extLst>
      <p:ext uri="{BB962C8B-B14F-4D97-AF65-F5344CB8AC3E}">
        <p14:creationId xmlns:p14="http://schemas.microsoft.com/office/powerpoint/2010/main" val="38140505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endParaRPr lang="en-SE"/>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DDA34D1-BC3C-4CFF-BC3E-FEC53BFF2AC4}" type="slidenum">
              <a:rPr lang="en-SE" smtClean="0"/>
              <a:t>‹#›</a:t>
            </a:fld>
            <a:endParaRPr lang="en-SE"/>
          </a:p>
        </p:txBody>
      </p:sp>
    </p:spTree>
    <p:extLst>
      <p:ext uri="{BB962C8B-B14F-4D97-AF65-F5344CB8AC3E}">
        <p14:creationId xmlns:p14="http://schemas.microsoft.com/office/powerpoint/2010/main" val="170319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endParaRPr lang="en-SE"/>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DDA34D1-BC3C-4CFF-BC3E-FEC53BFF2AC4}" type="slidenum">
              <a:rPr lang="en-SE" smtClean="0"/>
              <a:t>‹#›</a:t>
            </a:fld>
            <a:endParaRPr lang="en-SE"/>
          </a:p>
        </p:txBody>
      </p:sp>
    </p:spTree>
    <p:extLst>
      <p:ext uri="{BB962C8B-B14F-4D97-AF65-F5344CB8AC3E}">
        <p14:creationId xmlns:p14="http://schemas.microsoft.com/office/powerpoint/2010/main" val="962382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endParaRPr lang="en-SE"/>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DDA34D1-BC3C-4CFF-BC3E-FEC53BFF2AC4}" type="slidenum">
              <a:rPr lang="en-SE" smtClean="0"/>
              <a:t>‹#›</a:t>
            </a:fld>
            <a:endParaRPr lang="en-SE"/>
          </a:p>
        </p:txBody>
      </p:sp>
      <p:sp>
        <p:nvSpPr>
          <p:cNvPr id="8" name="Rektangel 7">
            <a:extLst>
              <a:ext uri="{FF2B5EF4-FFF2-40B4-BE49-F238E27FC236}">
                <a16:creationId xmlns:a16="http://schemas.microsoft.com/office/drawing/2014/main" id="{599C849E-1E62-7E27-4099-2DEB2C85E99A}"/>
              </a:ext>
            </a:extLst>
          </p:cNvPr>
          <p:cNvSpPr/>
          <p:nvPr/>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78119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1849260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814844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1059537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DDA34D1-BC3C-4CFF-BC3E-FEC53BFF2AC4}" type="slidenum">
              <a:rPr lang="en-SE" smtClean="0"/>
              <a:t>‹#›</a:t>
            </a:fld>
            <a:endParaRPr lang="en-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endParaRPr lang="en-SE"/>
          </a:p>
        </p:txBody>
      </p:sp>
    </p:spTree>
    <p:extLst>
      <p:ext uri="{BB962C8B-B14F-4D97-AF65-F5344CB8AC3E}">
        <p14:creationId xmlns:p14="http://schemas.microsoft.com/office/powerpoint/2010/main" val="212079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endParaRPr lang="en-SE"/>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DDA34D1-BC3C-4CFF-BC3E-FEC53BFF2AC4}" type="slidenum">
              <a:rPr lang="en-SE" smtClean="0"/>
              <a:t>‹#›</a:t>
            </a:fld>
            <a:endParaRPr lang="en-SE"/>
          </a:p>
        </p:txBody>
      </p:sp>
    </p:spTree>
    <p:extLst>
      <p:ext uri="{BB962C8B-B14F-4D97-AF65-F5344CB8AC3E}">
        <p14:creationId xmlns:p14="http://schemas.microsoft.com/office/powerpoint/2010/main" val="3780294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DDA34D1-BC3C-4CFF-BC3E-FEC53BFF2AC4}" type="slidenum">
              <a:rPr lang="en-SE" smtClean="0"/>
              <a:t>‹#›</a:t>
            </a:fld>
            <a:endParaRPr lang="en-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endParaRPr lang="en-SE"/>
          </a:p>
        </p:txBody>
      </p:sp>
      <p:pic>
        <p:nvPicPr>
          <p:cNvPr id="9" name="Bild 8">
            <a:extLst>
              <a:ext uri="{FF2B5EF4-FFF2-40B4-BE49-F238E27FC236}">
                <a16:creationId xmlns:a16="http://schemas.microsoft.com/office/drawing/2014/main" id="{B9CCB106-B724-D4FC-9180-F2081684D467}"/>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1906093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DDA34D1-BC3C-4CFF-BC3E-FEC53BFF2AC4}" type="slidenum">
              <a:rPr lang="en-SE" smtClean="0"/>
              <a:t>‹#›</a:t>
            </a:fld>
            <a:endParaRPr lang="en-SE"/>
          </a:p>
        </p:txBody>
      </p:sp>
      <p:pic>
        <p:nvPicPr>
          <p:cNvPr id="9" name="Bild 8">
            <a:extLst>
              <a:ext uri="{FF2B5EF4-FFF2-40B4-BE49-F238E27FC236}">
                <a16:creationId xmlns:a16="http://schemas.microsoft.com/office/drawing/2014/main" id="{E3DA9A33-1CAA-3164-6E44-47421CD08E03}"/>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1286795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DDA34D1-BC3C-4CFF-BC3E-FEC53BFF2AC4}" type="slidenum">
              <a:rPr lang="en-SE" smtClean="0"/>
              <a:t>‹#›</a:t>
            </a:fld>
            <a:endParaRPr lang="en-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endParaRPr lang="en-SE"/>
          </a:p>
        </p:txBody>
      </p:sp>
      <p:pic>
        <p:nvPicPr>
          <p:cNvPr id="9" name="Bild 8">
            <a:extLst>
              <a:ext uri="{FF2B5EF4-FFF2-40B4-BE49-F238E27FC236}">
                <a16:creationId xmlns:a16="http://schemas.microsoft.com/office/drawing/2014/main" id="{EACB4A23-3C87-4C5A-07DC-8116B46C6C7A}"/>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833361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089362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624293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22703610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9606983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9942296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GB"/>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endParaRPr lang="en-SE"/>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9609328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endParaRPr lang="en-SE"/>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5650875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4413033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9873943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3348739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4889721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4869823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16222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9902220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10054129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484485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11965247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41699986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2469814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23773913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426448158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23211175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6723811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GB"/>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8284097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GB"/>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DDA34D1-BC3C-4CFF-BC3E-FEC53BFF2AC4}" type="slidenum">
              <a:rPr lang="en-SE" smtClean="0"/>
              <a:t>‹#›</a:t>
            </a:fld>
            <a:endParaRPr lang="en-SE"/>
          </a:p>
        </p:txBody>
      </p:sp>
      <p:pic>
        <p:nvPicPr>
          <p:cNvPr id="6" name="Bild 5">
            <a:extLst>
              <a:ext uri="{FF2B5EF4-FFF2-40B4-BE49-F238E27FC236}">
                <a16:creationId xmlns:a16="http://schemas.microsoft.com/office/drawing/2014/main" id="{2CD49F62-B17F-4256-87E8-B48CEC1AECFD}"/>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3688360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GB"/>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DDA34D1-BC3C-4CFF-BC3E-FEC53BFF2AC4}" type="slidenum">
              <a:rPr lang="en-SE" smtClean="0"/>
              <a:t>‹#›</a:t>
            </a:fld>
            <a:endParaRPr lang="en-SE"/>
          </a:p>
        </p:txBody>
      </p:sp>
      <p:pic>
        <p:nvPicPr>
          <p:cNvPr id="6" name="Bild 5">
            <a:extLst>
              <a:ext uri="{FF2B5EF4-FFF2-40B4-BE49-F238E27FC236}">
                <a16:creationId xmlns:a16="http://schemas.microsoft.com/office/drawing/2014/main" id="{70BC9548-E26C-77A2-1994-5B2D723366A9}"/>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9266642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GB"/>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DDA34D1-BC3C-4CFF-BC3E-FEC53BFF2AC4}" type="slidenum">
              <a:rPr lang="en-SE" smtClean="0"/>
              <a:t>‹#›</a:t>
            </a:fld>
            <a:endParaRPr lang="en-SE"/>
          </a:p>
        </p:txBody>
      </p:sp>
      <p:pic>
        <p:nvPicPr>
          <p:cNvPr id="6" name="Bild 5">
            <a:extLst>
              <a:ext uri="{FF2B5EF4-FFF2-40B4-BE49-F238E27FC236}">
                <a16:creationId xmlns:a16="http://schemas.microsoft.com/office/drawing/2014/main" id="{C21FC7DD-9D09-44CA-0597-9DEB74E2004D}"/>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5976676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GB"/>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DDA34D1-BC3C-4CFF-BC3E-FEC53BFF2AC4}" type="slidenum">
              <a:rPr lang="en-SE" smtClean="0"/>
              <a:t>‹#›</a:t>
            </a:fld>
            <a:endParaRPr lang="en-SE"/>
          </a:p>
        </p:txBody>
      </p:sp>
      <p:pic>
        <p:nvPicPr>
          <p:cNvPr id="6" name="Bild 5">
            <a:extLst>
              <a:ext uri="{FF2B5EF4-FFF2-40B4-BE49-F238E27FC236}">
                <a16:creationId xmlns:a16="http://schemas.microsoft.com/office/drawing/2014/main" id="{B0E08DE0-7713-2F89-9CAE-718563F453A7}"/>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19036424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endParaRPr lang="en-SE"/>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15797631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GB"/>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162317973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GB"/>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286040550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9E13F8EA-F418-4D9E-8DE0-92A5680C86AA}" type="datetimeFigureOut">
              <a:rPr lang="en-SE" smtClean="0"/>
              <a:t>2026-02-19</a:t>
            </a:fld>
            <a:endParaRPr lang="en-SE"/>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endParaRPr lang="en-SE"/>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DDA34D1-BC3C-4CFF-BC3E-FEC53BFF2AC4}" type="slidenum">
              <a:rPr lang="en-SE" smtClean="0"/>
              <a:t>‹#›</a:t>
            </a:fld>
            <a:endParaRPr lang="en-SE"/>
          </a:p>
        </p:txBody>
      </p:sp>
      <p:pic>
        <p:nvPicPr>
          <p:cNvPr id="2" name="Bild 1">
            <a:extLst>
              <a:ext uri="{FF2B5EF4-FFF2-40B4-BE49-F238E27FC236}">
                <a16:creationId xmlns:a16="http://schemas.microsoft.com/office/drawing/2014/main" id="{B31C6E16-A8C5-A850-CB5B-D4A530D7DE27}"/>
              </a:ext>
            </a:extLst>
          </p:cNvPr>
          <p:cNvPicPr>
            <a:picLocks noChangeAspect="1"/>
          </p:cNvPicPr>
          <p:nvPr/>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998958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9E13F8EA-F418-4D9E-8DE0-92A5680C86AA}" type="datetimeFigureOut">
              <a:rPr lang="en-SE" smtClean="0"/>
              <a:t>2026-02-19</a:t>
            </a:fld>
            <a:endParaRPr lang="en-SE"/>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endParaRPr lang="en-SE"/>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DDA34D1-BC3C-4CFF-BC3E-FEC53BFF2AC4}" type="slidenum">
              <a:rPr lang="en-SE" smtClean="0"/>
              <a:t>‹#›</a:t>
            </a:fld>
            <a:endParaRPr lang="en-SE"/>
          </a:p>
        </p:txBody>
      </p:sp>
      <p:pic>
        <p:nvPicPr>
          <p:cNvPr id="2" name="Bild 1">
            <a:extLst>
              <a:ext uri="{FF2B5EF4-FFF2-40B4-BE49-F238E27FC236}">
                <a16:creationId xmlns:a16="http://schemas.microsoft.com/office/drawing/2014/main" id="{0D27DED8-EA09-1EA2-8C8D-DCB1C9F0377C}"/>
              </a:ext>
            </a:extLst>
          </p:cNvPr>
          <p:cNvPicPr>
            <a:picLocks noChangeAspect="1"/>
          </p:cNvPicPr>
          <p:nvPr/>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5648258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DDA34D1-BC3C-4CFF-BC3E-FEC53BFF2AC4}" type="slidenum">
              <a:rPr lang="en-SE" smtClean="0"/>
              <a:t>‹#›</a:t>
            </a:fld>
            <a:endParaRPr lang="en-SE"/>
          </a:p>
        </p:txBody>
      </p:sp>
      <p:sp>
        <p:nvSpPr>
          <p:cNvPr id="7" name="textruta 6">
            <a:extLst>
              <a:ext uri="{FF2B5EF4-FFF2-40B4-BE49-F238E27FC236}">
                <a16:creationId xmlns:a16="http://schemas.microsoft.com/office/drawing/2014/main" id="{90ED1EC6-276A-A06E-A517-156B8EACE0DE}"/>
              </a:ext>
            </a:extLst>
          </p:cNvPr>
          <p:cNvSpPr txBox="1"/>
          <p:nvPr/>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657487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DDA34D1-BC3C-4CFF-BC3E-FEC53BFF2AC4}" type="slidenum">
              <a:rPr lang="en-SE" smtClean="0"/>
              <a:t>‹#›</a:t>
            </a:fld>
            <a:endParaRPr lang="en-SE"/>
          </a:p>
        </p:txBody>
      </p:sp>
      <p:sp>
        <p:nvSpPr>
          <p:cNvPr id="7" name="textruta 6">
            <a:extLst>
              <a:ext uri="{FF2B5EF4-FFF2-40B4-BE49-F238E27FC236}">
                <a16:creationId xmlns:a16="http://schemas.microsoft.com/office/drawing/2014/main" id="{90ED1EC6-276A-A06E-A517-156B8EACE0DE}"/>
              </a:ext>
            </a:extLst>
          </p:cNvPr>
          <p:cNvSpPr txBox="1"/>
          <p:nvPr/>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8171319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9E13F8EA-F418-4D9E-8DE0-92A5680C86AA}" type="datetimeFigureOut">
              <a:rPr lang="en-SE" smtClean="0"/>
              <a:t>2026-02-19</a:t>
            </a:fld>
            <a:endParaRPr lang="en-SE"/>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DDA34D1-BC3C-4CFF-BC3E-FEC53BFF2AC4}" type="slidenum">
              <a:rPr lang="en-SE" smtClean="0"/>
              <a:t>‹#›</a:t>
            </a:fld>
            <a:endParaRPr lang="en-SE"/>
          </a:p>
        </p:txBody>
      </p:sp>
      <p:sp>
        <p:nvSpPr>
          <p:cNvPr id="11" name="textruta 10">
            <a:extLst>
              <a:ext uri="{FF2B5EF4-FFF2-40B4-BE49-F238E27FC236}">
                <a16:creationId xmlns:a16="http://schemas.microsoft.com/office/drawing/2014/main" id="{D3950EA1-6BC3-FA92-A900-5D1873DA5B6D}"/>
              </a:ext>
            </a:extLst>
          </p:cNvPr>
          <p:cNvSpPr txBox="1"/>
          <p:nvPr/>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164123096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9E13F8EA-F418-4D9E-8DE0-92A5680C86AA}" type="datetimeFigureOut">
              <a:rPr lang="en-SE" smtClean="0"/>
              <a:t>2026-02-19</a:t>
            </a:fld>
            <a:endParaRPr lang="en-SE"/>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endParaRPr lang="en-SE"/>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DDA34D1-BC3C-4CFF-BC3E-FEC53BFF2AC4}" type="slidenum">
              <a:rPr lang="en-SE" smtClean="0"/>
              <a:t>‹#›</a:t>
            </a:fld>
            <a:endParaRPr lang="en-SE"/>
          </a:p>
        </p:txBody>
      </p:sp>
      <p:pic>
        <p:nvPicPr>
          <p:cNvPr id="11" name="Bild 10">
            <a:extLst>
              <a:ext uri="{FF2B5EF4-FFF2-40B4-BE49-F238E27FC236}">
                <a16:creationId xmlns:a16="http://schemas.microsoft.com/office/drawing/2014/main" id="{57E3D58E-4C99-E6D1-B925-E182668FA2E3}"/>
              </a:ext>
            </a:extLst>
          </p:cNvPr>
          <p:cNvPicPr>
            <a:picLocks noChangeAspect="1"/>
          </p:cNvPicPr>
          <p:nvPr/>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4297758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Lst>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378">
          <p15:clr>
            <a:srgbClr val="F26B43"/>
          </p15:clr>
        </p15:guide>
        <p15:guide id="4" pos="1343">
          <p15:clr>
            <a:srgbClr val="F26B43"/>
          </p15:clr>
        </p15:guide>
        <p15:guide id="5" pos="1570">
          <p15:clr>
            <a:srgbClr val="F26B43"/>
          </p15:clr>
        </p15:guide>
        <p15:guide id="6" pos="2535">
          <p15:clr>
            <a:srgbClr val="F26B43"/>
          </p15:clr>
        </p15:guide>
        <p15:guide id="7" pos="2761">
          <p15:clr>
            <a:srgbClr val="F26B43"/>
          </p15:clr>
        </p15:guide>
        <p15:guide id="8" pos="3726">
          <p15:clr>
            <a:srgbClr val="F26B43"/>
          </p15:clr>
        </p15:guide>
        <p15:guide id="9" pos="3953">
          <p15:clr>
            <a:srgbClr val="F26B43"/>
          </p15:clr>
        </p15:guide>
        <p15:guide id="10" pos="4918">
          <p15:clr>
            <a:srgbClr val="F26B43"/>
          </p15:clr>
        </p15:guide>
        <p15:guide id="11" pos="5144">
          <p15:clr>
            <a:srgbClr val="F26B43"/>
          </p15:clr>
        </p15:guide>
        <p15:guide id="12" pos="6109">
          <p15:clr>
            <a:srgbClr val="F26B43"/>
          </p15:clr>
        </p15:guide>
        <p15:guide id="13" pos="6336">
          <p15:clr>
            <a:srgbClr val="F26B43"/>
          </p15:clr>
        </p15:guide>
        <p15:guide id="14" pos="7301">
          <p15:clr>
            <a:srgbClr val="F26B43"/>
          </p15:clr>
        </p15:guide>
        <p15:guide id="15" orient="horz">
          <p15:clr>
            <a:srgbClr val="F26B43"/>
          </p15:clr>
        </p15:guide>
        <p15:guide id="16" orient="horz" pos="4320">
          <p15:clr>
            <a:srgbClr val="F26B43"/>
          </p15:clr>
        </p15:guide>
        <p15:guide id="17" orient="horz" pos="514">
          <p15:clr>
            <a:srgbClr val="F26B43"/>
          </p15:clr>
        </p15:guide>
        <p15:guide id="18" orient="horz" pos="861">
          <p15:clr>
            <a:srgbClr val="F26B43"/>
          </p15:clr>
        </p15:guide>
        <p15:guide id="19" orient="horz" pos="1209">
          <p15:clr>
            <a:srgbClr val="F26B43"/>
          </p15:clr>
        </p15:guide>
        <p15:guide id="20" orient="horz" pos="1570">
          <p15:clr>
            <a:srgbClr val="F26B43"/>
          </p15:clr>
        </p15:guide>
        <p15:guide id="21" orient="horz" pos="1903">
          <p15:clr>
            <a:srgbClr val="F26B43"/>
          </p15:clr>
        </p15:guide>
        <p15:guide id="22" orient="horz" pos="2250">
          <p15:clr>
            <a:srgbClr val="F26B43"/>
          </p15:clr>
        </p15:guide>
        <p15:guide id="23" orient="horz" pos="2597">
          <p15:clr>
            <a:srgbClr val="F26B43"/>
          </p15:clr>
        </p15:guide>
        <p15:guide id="24" orient="horz" pos="2945">
          <p15:clr>
            <a:srgbClr val="F26B43"/>
          </p15:clr>
        </p15:guide>
        <p15:guide id="25" orient="horz" pos="3292">
          <p15:clr>
            <a:srgbClr val="F26B43"/>
          </p15:clr>
        </p15:guide>
        <p15:guide id="26" orient="horz" pos="3639">
          <p15:clr>
            <a:srgbClr val="F26B43"/>
          </p15:clr>
        </p15:guide>
        <p15:guide id="27" orient="horz" pos="398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12.xml"/><Relationship Id="rId1" Type="http://schemas.openxmlformats.org/officeDocument/2006/relationships/tags" Target="../tags/tag3.xml"/><Relationship Id="rId4" Type="http://schemas.openxmlformats.org/officeDocument/2006/relationships/image" Target="../media/image33.png"/></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12.xml"/><Relationship Id="rId1" Type="http://schemas.openxmlformats.org/officeDocument/2006/relationships/tags" Target="../tags/tag4.xml"/><Relationship Id="rId4" Type="http://schemas.openxmlformats.org/officeDocument/2006/relationships/image" Target="../media/image33.png"/></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12.xml"/><Relationship Id="rId1" Type="http://schemas.openxmlformats.org/officeDocument/2006/relationships/tags" Target="../tags/tag5.xml"/><Relationship Id="rId5" Type="http://schemas.openxmlformats.org/officeDocument/2006/relationships/image" Target="../media/image33.png"/><Relationship Id="rId4"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12.xml"/><Relationship Id="rId1" Type="http://schemas.openxmlformats.org/officeDocument/2006/relationships/tags" Target="../tags/tag6.xml"/><Relationship Id="rId5" Type="http://schemas.openxmlformats.org/officeDocument/2006/relationships/image" Target="../media/image33.pn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1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15E97-85E2-5866-4C63-2C548B055AFD}"/>
              </a:ext>
            </a:extLst>
          </p:cNvPr>
          <p:cNvSpPr>
            <a:spLocks noGrp="1"/>
          </p:cNvSpPr>
          <p:nvPr>
            <p:ph type="ctrTitle"/>
          </p:nvPr>
        </p:nvSpPr>
        <p:spPr>
          <a:xfrm>
            <a:off x="703385" y="2756231"/>
            <a:ext cx="11094293" cy="2387600"/>
          </a:xfrm>
        </p:spPr>
        <p:txBody>
          <a:bodyPr/>
          <a:lstStyle/>
          <a:p>
            <a:r>
              <a:rPr lang="en-GB" dirty="0"/>
              <a:t>CSA and timings</a:t>
            </a:r>
          </a:p>
        </p:txBody>
      </p:sp>
      <p:sp>
        <p:nvSpPr>
          <p:cNvPr id="3" name="Subtitle 2">
            <a:extLst>
              <a:ext uri="{FF2B5EF4-FFF2-40B4-BE49-F238E27FC236}">
                <a16:creationId xmlns:a16="http://schemas.microsoft.com/office/drawing/2014/main" id="{2AC2AAAF-D57F-83EB-FBFC-306C75F02545}"/>
              </a:ext>
            </a:extLst>
          </p:cNvPr>
          <p:cNvSpPr>
            <a:spLocks noGrp="1"/>
          </p:cNvSpPr>
          <p:nvPr>
            <p:ph type="subTitle" idx="1"/>
          </p:nvPr>
        </p:nvSpPr>
        <p:spPr>
          <a:xfrm>
            <a:off x="1524000" y="4958450"/>
            <a:ext cx="9144000" cy="1655762"/>
          </a:xfrm>
        </p:spPr>
        <p:txBody>
          <a:bodyPr/>
          <a:lstStyle/>
          <a:p>
            <a:r>
              <a:rPr lang="en-GB" dirty="0"/>
              <a:t>Luca Terenzi</a:t>
            </a:r>
          </a:p>
        </p:txBody>
      </p:sp>
    </p:spTree>
    <p:extLst>
      <p:ext uri="{BB962C8B-B14F-4D97-AF65-F5344CB8AC3E}">
        <p14:creationId xmlns:p14="http://schemas.microsoft.com/office/powerpoint/2010/main" val="2300026099"/>
      </p:ext>
    </p:extLst>
  </p:cSld>
  <p:clrMapOvr>
    <a:masterClrMapping/>
  </p:clrMapOvr>
  <mc:AlternateContent xmlns:mc="http://schemas.openxmlformats.org/markup-compatibility/2006" xmlns:p14="http://schemas.microsoft.com/office/powerpoint/2010/main">
    <mc:Choice Requires="p14">
      <p:transition spd="slow" p14:dur="2000" advTm="12354"/>
    </mc:Choice>
    <mc:Fallback xmlns="">
      <p:transition spd="slow" advTm="1235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A831-E3DB-9616-6621-C6E9B7338E7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171032AD-C2E0-FCDF-6C52-918761E9DEB8}"/>
              </a:ext>
            </a:extLst>
          </p:cNvPr>
          <p:cNvSpPr txBox="1">
            <a:spLocks/>
          </p:cNvSpPr>
          <p:nvPr/>
        </p:nvSpPr>
        <p:spPr>
          <a:xfrm>
            <a:off x="1236000" y="270296"/>
            <a:ext cx="10515600" cy="633101"/>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GB" sz="2800" dirty="0"/>
              <a:t>Grouping algorithm Overview</a:t>
            </a:r>
            <a:endParaRPr lang="en-US" sz="2800" dirty="0" err="1"/>
          </a:p>
        </p:txBody>
      </p:sp>
      <p:sp>
        <p:nvSpPr>
          <p:cNvPr id="28" name="TextBox 27">
            <a:extLst>
              <a:ext uri="{FF2B5EF4-FFF2-40B4-BE49-F238E27FC236}">
                <a16:creationId xmlns:a16="http://schemas.microsoft.com/office/drawing/2014/main" id="{B0CB7250-F0DC-87CC-5828-71B182215E0C}"/>
              </a:ext>
            </a:extLst>
          </p:cNvPr>
          <p:cNvSpPr txBox="1"/>
          <p:nvPr/>
        </p:nvSpPr>
        <p:spPr>
          <a:xfrm>
            <a:off x="3637618" y="1989923"/>
            <a:ext cx="835118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In our detector we will collect data regarding each interaction in terms of deposited energy, time stamp and position (</a:t>
            </a:r>
            <a:r>
              <a:rPr lang="en-US" dirty="0" err="1">
                <a:ea typeface="+mn-lt"/>
                <a:cs typeface="+mn-lt"/>
              </a:rPr>
              <a:t>E,t,x,y,z</a:t>
            </a:r>
            <a:r>
              <a:rPr lang="en-US" dirty="0">
                <a:ea typeface="+mn-lt"/>
                <a:cs typeface="+mn-lt"/>
              </a:rPr>
              <a:t>). However, we do not know which interactions belong to which event chain. For this it is important to devise al algorithm capable of sorting what interaction belongs to which.</a:t>
            </a:r>
          </a:p>
        </p:txBody>
      </p:sp>
      <p:sp>
        <p:nvSpPr>
          <p:cNvPr id="2" name="Oval 1">
            <a:extLst>
              <a:ext uri="{FF2B5EF4-FFF2-40B4-BE49-F238E27FC236}">
                <a16:creationId xmlns:a16="http://schemas.microsoft.com/office/drawing/2014/main" id="{0E1C35F7-C679-8B29-268F-C94D5D4D0993}"/>
              </a:ext>
            </a:extLst>
          </p:cNvPr>
          <p:cNvSpPr/>
          <p:nvPr/>
        </p:nvSpPr>
        <p:spPr>
          <a:xfrm>
            <a:off x="1188719" y="2372863"/>
            <a:ext cx="45719" cy="45719"/>
          </a:xfrm>
          <a:prstGeom prst="ellips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3" name="Oval 2">
            <a:extLst>
              <a:ext uri="{FF2B5EF4-FFF2-40B4-BE49-F238E27FC236}">
                <a16:creationId xmlns:a16="http://schemas.microsoft.com/office/drawing/2014/main" id="{B7F74DA4-C303-DB08-F782-F6CF5E42F364}"/>
              </a:ext>
            </a:extLst>
          </p:cNvPr>
          <p:cNvSpPr/>
          <p:nvPr/>
        </p:nvSpPr>
        <p:spPr>
          <a:xfrm>
            <a:off x="1341119" y="2582413"/>
            <a:ext cx="45719" cy="45719"/>
          </a:xfrm>
          <a:prstGeom prst="ellips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4" name="Oval 3">
            <a:extLst>
              <a:ext uri="{FF2B5EF4-FFF2-40B4-BE49-F238E27FC236}">
                <a16:creationId xmlns:a16="http://schemas.microsoft.com/office/drawing/2014/main" id="{C47C423D-66FD-A843-9153-5D7F95B0F57D}"/>
              </a:ext>
            </a:extLst>
          </p:cNvPr>
          <p:cNvSpPr/>
          <p:nvPr/>
        </p:nvSpPr>
        <p:spPr>
          <a:xfrm>
            <a:off x="2439669" y="2678084"/>
            <a:ext cx="45719" cy="45719"/>
          </a:xfrm>
          <a:prstGeom prst="ellips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5" name="Oval 4">
            <a:extLst>
              <a:ext uri="{FF2B5EF4-FFF2-40B4-BE49-F238E27FC236}">
                <a16:creationId xmlns:a16="http://schemas.microsoft.com/office/drawing/2014/main" id="{095789DF-BE02-D7CF-13ED-B8C568CD85FC}"/>
              </a:ext>
            </a:extLst>
          </p:cNvPr>
          <p:cNvSpPr/>
          <p:nvPr/>
        </p:nvSpPr>
        <p:spPr>
          <a:xfrm>
            <a:off x="1988819" y="2991504"/>
            <a:ext cx="45719" cy="45719"/>
          </a:xfrm>
          <a:prstGeom prst="ellips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6" name="Oval 5">
            <a:extLst>
              <a:ext uri="{FF2B5EF4-FFF2-40B4-BE49-F238E27FC236}">
                <a16:creationId xmlns:a16="http://schemas.microsoft.com/office/drawing/2014/main" id="{4434173A-E2CD-AB66-D27F-C1320D448AC4}"/>
              </a:ext>
            </a:extLst>
          </p:cNvPr>
          <p:cNvSpPr/>
          <p:nvPr/>
        </p:nvSpPr>
        <p:spPr>
          <a:xfrm>
            <a:off x="1943100" y="2294797"/>
            <a:ext cx="45719" cy="45719"/>
          </a:xfrm>
          <a:prstGeom prst="ellips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8" name="Rectangle 7">
            <a:extLst>
              <a:ext uri="{FF2B5EF4-FFF2-40B4-BE49-F238E27FC236}">
                <a16:creationId xmlns:a16="http://schemas.microsoft.com/office/drawing/2014/main" id="{2134A4BE-8C17-5E05-83C6-4CA4D134DE67}"/>
              </a:ext>
            </a:extLst>
          </p:cNvPr>
          <p:cNvSpPr/>
          <p:nvPr/>
        </p:nvSpPr>
        <p:spPr>
          <a:xfrm>
            <a:off x="631825" y="2033826"/>
            <a:ext cx="2622550" cy="1188612"/>
          </a:xfrm>
          <a:prstGeom prst="rect">
            <a:avLst/>
          </a:prstGeom>
          <a:noFill/>
          <a:ln w="38100">
            <a:solidFill>
              <a:srgbClr val="3232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9" name="TextBox 8">
            <a:extLst>
              <a:ext uri="{FF2B5EF4-FFF2-40B4-BE49-F238E27FC236}">
                <a16:creationId xmlns:a16="http://schemas.microsoft.com/office/drawing/2014/main" id="{16019CCF-47B1-8E4E-5202-A0A6FC5A7D1B}"/>
              </a:ext>
            </a:extLst>
          </p:cNvPr>
          <p:cNvSpPr txBox="1"/>
          <p:nvPr/>
        </p:nvSpPr>
        <p:spPr>
          <a:xfrm>
            <a:off x="696912" y="3928710"/>
            <a:ext cx="1079817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Ideally, since the space of collected interaction will be very big, it is virtually impossible to search the whole space every time we attempt to make a grouping. For this reason, the algorithm will necessitate of two parts:</a:t>
            </a:r>
          </a:p>
          <a:p>
            <a:endParaRPr lang="en-US" dirty="0">
              <a:ea typeface="+mn-lt"/>
              <a:cs typeface="+mn-lt"/>
            </a:endParaRPr>
          </a:p>
          <a:p>
            <a:pPr marL="342900" indent="-342900">
              <a:buFont typeface="+mj-lt"/>
              <a:buAutoNum type="arabicPeriod"/>
            </a:pPr>
            <a:r>
              <a:rPr lang="en-US" dirty="0">
                <a:ea typeface="+mn-lt"/>
                <a:cs typeface="+mn-lt"/>
              </a:rPr>
              <a:t>A first way to divide the whole space into a subset of interaction</a:t>
            </a:r>
          </a:p>
          <a:p>
            <a:pPr marL="342900" indent="-342900">
              <a:buFont typeface="+mj-lt"/>
              <a:buAutoNum type="arabicPeriod"/>
            </a:pPr>
            <a:endParaRPr lang="en-US" dirty="0">
              <a:ea typeface="+mn-lt"/>
              <a:cs typeface="+mn-lt"/>
            </a:endParaRPr>
          </a:p>
          <a:p>
            <a:pPr marL="342900" indent="-342900">
              <a:buFont typeface="+mj-lt"/>
              <a:buAutoNum type="arabicPeriod"/>
            </a:pPr>
            <a:r>
              <a:rPr lang="en-US" dirty="0">
                <a:ea typeface="+mn-lt"/>
                <a:cs typeface="+mn-lt"/>
              </a:rPr>
              <a:t>An algorithm and/or likelihood function to group the interactions</a:t>
            </a:r>
          </a:p>
          <a:p>
            <a:endParaRPr lang="en-US" dirty="0">
              <a:ea typeface="+mn-lt"/>
              <a:cs typeface="+mn-lt"/>
            </a:endParaRPr>
          </a:p>
        </p:txBody>
      </p:sp>
    </p:spTree>
    <p:custDataLst>
      <p:tags r:id="rId1"/>
    </p:custDataLst>
    <p:extLst>
      <p:ext uri="{BB962C8B-B14F-4D97-AF65-F5344CB8AC3E}">
        <p14:creationId xmlns:p14="http://schemas.microsoft.com/office/powerpoint/2010/main" val="2410048269"/>
      </p:ext>
    </p:extLst>
  </p:cSld>
  <p:clrMapOvr>
    <a:masterClrMapping/>
  </p:clrMapOvr>
  <mc:AlternateContent xmlns:mc="http://schemas.openxmlformats.org/markup-compatibility/2006" xmlns:p14="http://schemas.microsoft.com/office/powerpoint/2010/main">
    <mc:Choice Requires="p14">
      <p:transition spd="slow" p14:dur="2000" advTm="70855"/>
    </mc:Choice>
    <mc:Fallback xmlns="">
      <p:transition spd="slow" advTm="7085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F3618-1856-8496-439A-F892D7E5C14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2073F27-ADD1-EEED-9145-D9498F63E242}"/>
              </a:ext>
            </a:extLst>
          </p:cNvPr>
          <p:cNvSpPr txBox="1">
            <a:spLocks/>
          </p:cNvSpPr>
          <p:nvPr/>
        </p:nvSpPr>
        <p:spPr>
          <a:xfrm>
            <a:off x="1236000" y="270296"/>
            <a:ext cx="10515600" cy="633101"/>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GB" sz="2800" dirty="0"/>
              <a:t>Grouping algorithm version 0 </a:t>
            </a:r>
            <a:endParaRPr lang="en-US" sz="2800" dirty="0" err="1"/>
          </a:p>
        </p:txBody>
      </p:sp>
      <p:sp>
        <p:nvSpPr>
          <p:cNvPr id="28" name="TextBox 27">
            <a:extLst>
              <a:ext uri="{FF2B5EF4-FFF2-40B4-BE49-F238E27FC236}">
                <a16:creationId xmlns:a16="http://schemas.microsoft.com/office/drawing/2014/main" id="{A5E57549-D3BC-C7FC-9D83-2BC793233F57}"/>
              </a:ext>
            </a:extLst>
          </p:cNvPr>
          <p:cNvSpPr txBox="1"/>
          <p:nvPr/>
        </p:nvSpPr>
        <p:spPr>
          <a:xfrm>
            <a:off x="5013604" y="1449990"/>
            <a:ext cx="6911695"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b="1" dirty="0">
                <a:ea typeface="+mn-lt"/>
                <a:cs typeface="+mn-lt"/>
              </a:rPr>
              <a:t>Seeding interaction</a:t>
            </a:r>
            <a:r>
              <a:rPr lang="en-US" dirty="0">
                <a:ea typeface="+mn-lt"/>
                <a:cs typeface="+mn-lt"/>
              </a:rPr>
              <a:t>: </a:t>
            </a:r>
            <a:r>
              <a:rPr lang="en-US" sz="1600" dirty="0">
                <a:ea typeface="+mn-lt"/>
                <a:cs typeface="+mn-lt"/>
              </a:rPr>
              <a:t>the ungrouped interaction with the lowest time stamp is the seed for the group. This means that we will try to group all interactions that belong to the event chain to which also the seed belongs to. </a:t>
            </a:r>
          </a:p>
          <a:p>
            <a:pPr marL="285750" indent="-285750">
              <a:buFont typeface="Arial" panose="020B0604020202020204" pitchFamily="34" charset="0"/>
              <a:buChar char="•"/>
            </a:pPr>
            <a:endParaRPr lang="en-US" sz="1600" dirty="0">
              <a:ea typeface="+mn-lt"/>
              <a:cs typeface="+mn-lt"/>
            </a:endParaRPr>
          </a:p>
          <a:p>
            <a:pPr marL="285750" indent="-285750">
              <a:buFont typeface="Arial" panose="020B0604020202020204" pitchFamily="34" charset="0"/>
              <a:buChar char="•"/>
            </a:pPr>
            <a:r>
              <a:rPr lang="en-US" sz="1600" b="1" dirty="0">
                <a:ea typeface="+mn-lt"/>
                <a:cs typeface="+mn-lt"/>
              </a:rPr>
              <a:t>Time window</a:t>
            </a:r>
            <a:r>
              <a:rPr lang="en-US" sz="1600" dirty="0">
                <a:ea typeface="+mn-lt"/>
                <a:cs typeface="+mn-lt"/>
              </a:rPr>
              <a:t>: We know that the time uncertainty on each time stamp is given by both the collection time std (almost constant for all energy, ignore for now) and the time jitter (highly dependent on energy). To select a subset of interaction, we take the seed, check its energy, if it is above 50 </a:t>
            </a:r>
            <a:r>
              <a:rPr lang="en-US" sz="1600" dirty="0" err="1">
                <a:ea typeface="+mn-lt"/>
                <a:cs typeface="+mn-lt"/>
              </a:rPr>
              <a:t>kev</a:t>
            </a:r>
            <a:r>
              <a:rPr lang="en-US" sz="1600" dirty="0">
                <a:ea typeface="+mn-lt"/>
                <a:cs typeface="+mn-lt"/>
              </a:rPr>
              <a:t>, then we take two time windows as in case 1. the first is smaller and dictated by 3*jitter at high energies (where it is almost constant), from this we select all interactions. From the second time window (3*jitter) with a bigger jitter for low energy interactions we just take the interaction with energy below 50 </a:t>
            </a:r>
            <a:r>
              <a:rPr lang="en-US" sz="1600" dirty="0" err="1">
                <a:ea typeface="+mn-lt"/>
                <a:cs typeface="+mn-lt"/>
              </a:rPr>
              <a:t>kev</a:t>
            </a:r>
            <a:r>
              <a:rPr lang="en-US" sz="1600" dirty="0">
                <a:ea typeface="+mn-lt"/>
                <a:cs typeface="+mn-lt"/>
              </a:rPr>
              <a:t>. Doing so it is very likely to include all interactions belonging to the seed event chain.</a:t>
            </a:r>
          </a:p>
          <a:p>
            <a:r>
              <a:rPr lang="en-US" sz="1600" dirty="0">
                <a:ea typeface="+mn-lt"/>
                <a:cs typeface="+mn-lt"/>
              </a:rPr>
              <a:t>NB: unless specified these two previous points will be the same for the other algorithms.</a:t>
            </a:r>
          </a:p>
        </p:txBody>
      </p:sp>
      <p:sp>
        <p:nvSpPr>
          <p:cNvPr id="9" name="TextBox 8">
            <a:extLst>
              <a:ext uri="{FF2B5EF4-FFF2-40B4-BE49-F238E27FC236}">
                <a16:creationId xmlns:a16="http://schemas.microsoft.com/office/drawing/2014/main" id="{AFB09914-3627-B52A-78D2-9229D2BFFAA8}"/>
              </a:ext>
            </a:extLst>
          </p:cNvPr>
          <p:cNvSpPr txBox="1"/>
          <p:nvPr/>
        </p:nvSpPr>
        <p:spPr>
          <a:xfrm>
            <a:off x="652462" y="5665041"/>
            <a:ext cx="1079817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b="1" dirty="0">
                <a:ea typeface="+mn-lt"/>
                <a:cs typeface="+mn-lt"/>
              </a:rPr>
              <a:t>Grouping algorithm</a:t>
            </a:r>
            <a:r>
              <a:rPr lang="en-US" sz="1600" dirty="0">
                <a:ea typeface="+mn-lt"/>
                <a:cs typeface="+mn-lt"/>
              </a:rPr>
              <a:t>: None. In this case we just take all interactions in the union of the </a:t>
            </a:r>
            <a:r>
              <a:rPr lang="en-US" sz="1600" dirty="0" err="1">
                <a:ea typeface="+mn-lt"/>
                <a:cs typeface="+mn-lt"/>
              </a:rPr>
              <a:t>the</a:t>
            </a:r>
            <a:r>
              <a:rPr lang="en-US" sz="1600" dirty="0">
                <a:ea typeface="+mn-lt"/>
                <a:cs typeface="+mn-lt"/>
              </a:rPr>
              <a:t> two time windows and assume they belong together. This is kind of the worst algorithm and used just as baseline of the worst we can do with the time window approach described above.</a:t>
            </a:r>
          </a:p>
        </p:txBody>
      </p:sp>
      <p:pic>
        <p:nvPicPr>
          <p:cNvPr id="11" name="Picture 10">
            <a:extLst>
              <a:ext uri="{FF2B5EF4-FFF2-40B4-BE49-F238E27FC236}">
                <a16:creationId xmlns:a16="http://schemas.microsoft.com/office/drawing/2014/main" id="{459CCC62-E76D-F128-0E14-A306CFD24990}"/>
              </a:ext>
            </a:extLst>
          </p:cNvPr>
          <p:cNvPicPr>
            <a:picLocks noChangeAspect="1"/>
          </p:cNvPicPr>
          <p:nvPr/>
        </p:nvPicPr>
        <p:blipFill>
          <a:blip r:embed="rId3"/>
          <a:stretch>
            <a:fillRect/>
          </a:stretch>
        </p:blipFill>
        <p:spPr>
          <a:xfrm>
            <a:off x="447020" y="1074670"/>
            <a:ext cx="3988177" cy="4136465"/>
          </a:xfrm>
          <a:prstGeom prst="rect">
            <a:avLst/>
          </a:prstGeom>
        </p:spPr>
      </p:pic>
    </p:spTree>
    <p:custDataLst>
      <p:tags r:id="rId1"/>
    </p:custDataLst>
    <p:extLst>
      <p:ext uri="{BB962C8B-B14F-4D97-AF65-F5344CB8AC3E}">
        <p14:creationId xmlns:p14="http://schemas.microsoft.com/office/powerpoint/2010/main" val="3255131039"/>
      </p:ext>
    </p:extLst>
  </p:cSld>
  <p:clrMapOvr>
    <a:masterClrMapping/>
  </p:clrMapOvr>
  <mc:AlternateContent xmlns:mc="http://schemas.openxmlformats.org/markup-compatibility/2006" xmlns:p14="http://schemas.microsoft.com/office/powerpoint/2010/main">
    <mc:Choice Requires="p14">
      <p:transition spd="slow" p14:dur="2000" advTm="70855"/>
    </mc:Choice>
    <mc:Fallback xmlns="">
      <p:transition spd="slow" advTm="7085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F5E54-5765-FC45-C6B3-423F0148298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0EEB88A-8B3F-5798-1F11-592FDDCF3262}"/>
              </a:ext>
            </a:extLst>
          </p:cNvPr>
          <p:cNvSpPr txBox="1">
            <a:spLocks/>
          </p:cNvSpPr>
          <p:nvPr/>
        </p:nvSpPr>
        <p:spPr>
          <a:xfrm>
            <a:off x="1236000" y="270296"/>
            <a:ext cx="10515600" cy="633101"/>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GB" sz="2800" dirty="0"/>
              <a:t>Grouping algorithm version 2 </a:t>
            </a:r>
            <a:endParaRPr lang="en-US" sz="2800" dirty="0" err="1"/>
          </a:p>
        </p:txBody>
      </p:sp>
      <p:sp>
        <p:nvSpPr>
          <p:cNvPr id="9" name="TextBox 8">
            <a:extLst>
              <a:ext uri="{FF2B5EF4-FFF2-40B4-BE49-F238E27FC236}">
                <a16:creationId xmlns:a16="http://schemas.microsoft.com/office/drawing/2014/main" id="{0D33A6AA-1CBE-82A1-DB16-0C901042898F}"/>
              </a:ext>
            </a:extLst>
          </p:cNvPr>
          <p:cNvSpPr txBox="1"/>
          <p:nvPr/>
        </p:nvSpPr>
        <p:spPr>
          <a:xfrm>
            <a:off x="4843603" y="1093078"/>
            <a:ext cx="7348397"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b="1" dirty="0">
                <a:ea typeface="+mn-lt"/>
                <a:cs typeface="+mn-lt"/>
              </a:rPr>
              <a:t>Seeding interaction: </a:t>
            </a:r>
            <a:r>
              <a:rPr lang="en-US" sz="1600" dirty="0">
                <a:ea typeface="+mn-lt"/>
                <a:cs typeface="+mn-lt"/>
              </a:rPr>
              <a:t>as v0</a:t>
            </a:r>
            <a:endParaRPr lang="en-US" sz="1600" b="1" dirty="0">
              <a:ea typeface="+mn-lt"/>
              <a:cs typeface="+mn-lt"/>
            </a:endParaRPr>
          </a:p>
          <a:p>
            <a:pPr marL="285750" indent="-285750">
              <a:buFont typeface="Arial" panose="020B0604020202020204" pitchFamily="34" charset="0"/>
              <a:buChar char="•"/>
            </a:pPr>
            <a:r>
              <a:rPr lang="en-US" sz="1600" b="1" dirty="0">
                <a:ea typeface="+mn-lt"/>
                <a:cs typeface="+mn-lt"/>
              </a:rPr>
              <a:t>Time window: </a:t>
            </a:r>
            <a:r>
              <a:rPr lang="en-US" sz="1600" dirty="0">
                <a:ea typeface="+mn-lt"/>
                <a:cs typeface="+mn-lt"/>
              </a:rPr>
              <a:t>as v0</a:t>
            </a:r>
            <a:endParaRPr lang="en-US" sz="1600" b="1" dirty="0">
              <a:ea typeface="+mn-lt"/>
              <a:cs typeface="+mn-lt"/>
            </a:endParaRPr>
          </a:p>
          <a:p>
            <a:pPr marL="285750" indent="-285750">
              <a:buFont typeface="Arial" panose="020B0604020202020204" pitchFamily="34" charset="0"/>
              <a:buChar char="•"/>
            </a:pPr>
            <a:endParaRPr lang="en-US" sz="1600" b="1" dirty="0">
              <a:ea typeface="+mn-lt"/>
              <a:cs typeface="+mn-lt"/>
            </a:endParaRPr>
          </a:p>
          <a:p>
            <a:pPr marL="285750" indent="-285750">
              <a:buFont typeface="Arial" panose="020B0604020202020204" pitchFamily="34" charset="0"/>
              <a:buChar char="•"/>
            </a:pPr>
            <a:r>
              <a:rPr lang="en-US" sz="1600" b="1" dirty="0">
                <a:ea typeface="+mn-lt"/>
                <a:cs typeface="+mn-lt"/>
              </a:rPr>
              <a:t>Grouping algorithm</a:t>
            </a:r>
            <a:r>
              <a:rPr lang="en-US" sz="1600" dirty="0">
                <a:ea typeface="+mn-lt"/>
                <a:cs typeface="+mn-lt"/>
              </a:rPr>
              <a:t>: Knowing that the detector volume is quite big, and from previous characterization we saw that it is quite unlikely for interaction volumes to intersect each others for different event chains, we characterize the radii distribution of different event chains, grouping them by interaction numbers. Then: start from seed </a:t>
            </a:r>
            <a:r>
              <a:rPr lang="en-US" sz="1600" dirty="0">
                <a:ea typeface="+mn-lt"/>
                <a:cs typeface="+mn-lt"/>
                <a:sym typeface="Wingdings" panose="05000000000000000000" pitchFamily="2" charset="2"/>
              </a:rPr>
              <a:t> take closest point  compute radius of interaction volume  if below threshold remove last interaction and stop, otherwise continue.</a:t>
            </a:r>
          </a:p>
          <a:p>
            <a:endParaRPr lang="en-US" sz="1600" dirty="0">
              <a:ea typeface="+mn-lt"/>
              <a:cs typeface="+mn-lt"/>
              <a:sym typeface="Wingdings" panose="05000000000000000000" pitchFamily="2" charset="2"/>
            </a:endParaRPr>
          </a:p>
          <a:p>
            <a:r>
              <a:rPr lang="en-US" sz="1600" dirty="0">
                <a:ea typeface="+mn-lt"/>
                <a:cs typeface="+mn-lt"/>
                <a:sym typeface="Wingdings" panose="05000000000000000000" pitchFamily="2" charset="2"/>
              </a:rPr>
              <a:t>NB: in this case the threshold was computed as the radius values for the 75</a:t>
            </a:r>
            <a:r>
              <a:rPr lang="en-US" sz="1600" baseline="30000" dirty="0">
                <a:ea typeface="+mn-lt"/>
                <a:cs typeface="+mn-lt"/>
                <a:sym typeface="Wingdings" panose="05000000000000000000" pitchFamily="2" charset="2"/>
              </a:rPr>
              <a:t>th</a:t>
            </a:r>
            <a:r>
              <a:rPr lang="en-US" sz="1600" dirty="0">
                <a:ea typeface="+mn-lt"/>
                <a:cs typeface="+mn-lt"/>
                <a:sym typeface="Wingdings" panose="05000000000000000000" pitchFamily="2" charset="2"/>
              </a:rPr>
              <a:t> percentile</a:t>
            </a:r>
            <a:endParaRPr lang="en-US" sz="1600" dirty="0">
              <a:ea typeface="+mn-lt"/>
              <a:cs typeface="+mn-lt"/>
            </a:endParaRPr>
          </a:p>
        </p:txBody>
      </p:sp>
      <p:pic>
        <p:nvPicPr>
          <p:cNvPr id="11" name="Picture 10">
            <a:extLst>
              <a:ext uri="{FF2B5EF4-FFF2-40B4-BE49-F238E27FC236}">
                <a16:creationId xmlns:a16="http://schemas.microsoft.com/office/drawing/2014/main" id="{B4FA1F32-4047-C3ED-72F5-E5A838B30631}"/>
              </a:ext>
            </a:extLst>
          </p:cNvPr>
          <p:cNvPicPr>
            <a:picLocks noChangeAspect="1"/>
          </p:cNvPicPr>
          <p:nvPr/>
        </p:nvPicPr>
        <p:blipFill>
          <a:blip r:embed="rId3"/>
          <a:stretch>
            <a:fillRect/>
          </a:stretch>
        </p:blipFill>
        <p:spPr>
          <a:xfrm>
            <a:off x="447020" y="1074670"/>
            <a:ext cx="3988177" cy="4136465"/>
          </a:xfrm>
          <a:prstGeom prst="rect">
            <a:avLst/>
          </a:prstGeom>
        </p:spPr>
      </p:pic>
      <p:pic>
        <p:nvPicPr>
          <p:cNvPr id="3" name="Picture 2" descr="A graph of different colored lines&#10;&#10;AI-generated content may be incorrect.">
            <a:extLst>
              <a:ext uri="{FF2B5EF4-FFF2-40B4-BE49-F238E27FC236}">
                <a16:creationId xmlns:a16="http://schemas.microsoft.com/office/drawing/2014/main" id="{B19C229F-2FF2-5B91-E0D1-65761BB855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5896" y="3923738"/>
            <a:ext cx="4708803" cy="2943002"/>
          </a:xfrm>
          <a:prstGeom prst="rect">
            <a:avLst/>
          </a:prstGeom>
        </p:spPr>
      </p:pic>
    </p:spTree>
    <p:custDataLst>
      <p:tags r:id="rId1"/>
    </p:custDataLst>
    <p:extLst>
      <p:ext uri="{BB962C8B-B14F-4D97-AF65-F5344CB8AC3E}">
        <p14:creationId xmlns:p14="http://schemas.microsoft.com/office/powerpoint/2010/main" val="2916650444"/>
      </p:ext>
    </p:extLst>
  </p:cSld>
  <p:clrMapOvr>
    <a:masterClrMapping/>
  </p:clrMapOvr>
  <mc:AlternateContent xmlns:mc="http://schemas.openxmlformats.org/markup-compatibility/2006" xmlns:p14="http://schemas.microsoft.com/office/powerpoint/2010/main">
    <mc:Choice Requires="p14">
      <p:transition spd="slow" p14:dur="2000" advTm="70855"/>
    </mc:Choice>
    <mc:Fallback xmlns="">
      <p:transition spd="slow" advTm="7085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0711C-A183-2AE9-3662-520F89709C47}"/>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39D201D-2527-8028-370B-0365DC72388D}"/>
              </a:ext>
            </a:extLst>
          </p:cNvPr>
          <p:cNvSpPr txBox="1">
            <a:spLocks/>
          </p:cNvSpPr>
          <p:nvPr/>
        </p:nvSpPr>
        <p:spPr>
          <a:xfrm>
            <a:off x="1236000" y="270296"/>
            <a:ext cx="10515600" cy="633101"/>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GB" sz="2800" dirty="0"/>
              <a:t>Grouping algorithm version 3 </a:t>
            </a:r>
            <a:endParaRPr lang="en-US" sz="2800" dirty="0" err="1"/>
          </a:p>
        </p:txBody>
      </p:sp>
      <p:sp>
        <p:nvSpPr>
          <p:cNvPr id="9" name="TextBox 8">
            <a:extLst>
              <a:ext uri="{FF2B5EF4-FFF2-40B4-BE49-F238E27FC236}">
                <a16:creationId xmlns:a16="http://schemas.microsoft.com/office/drawing/2014/main" id="{A4319425-3BE7-E32D-CC4E-AFDDD0DAFC37}"/>
              </a:ext>
            </a:extLst>
          </p:cNvPr>
          <p:cNvSpPr txBox="1"/>
          <p:nvPr/>
        </p:nvSpPr>
        <p:spPr>
          <a:xfrm>
            <a:off x="4843603" y="1093078"/>
            <a:ext cx="734839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b="1" dirty="0">
                <a:ea typeface="+mn-lt"/>
                <a:cs typeface="+mn-lt"/>
              </a:rPr>
              <a:t>Seeding interaction: </a:t>
            </a:r>
            <a:r>
              <a:rPr lang="en-US" sz="1600" dirty="0">
                <a:ea typeface="+mn-lt"/>
                <a:cs typeface="+mn-lt"/>
              </a:rPr>
              <a:t>we only seed starting with high energy interactions</a:t>
            </a:r>
            <a:endParaRPr lang="en-US" sz="1600" b="1" dirty="0">
              <a:ea typeface="+mn-lt"/>
              <a:cs typeface="+mn-lt"/>
            </a:endParaRPr>
          </a:p>
          <a:p>
            <a:pPr marL="285750" indent="-285750">
              <a:buFont typeface="Arial" panose="020B0604020202020204" pitchFamily="34" charset="0"/>
              <a:buChar char="•"/>
            </a:pPr>
            <a:r>
              <a:rPr lang="en-US" sz="1600" b="1" dirty="0">
                <a:ea typeface="+mn-lt"/>
                <a:cs typeface="+mn-lt"/>
              </a:rPr>
              <a:t>Time window: </a:t>
            </a:r>
            <a:r>
              <a:rPr lang="en-US" sz="1600" dirty="0">
                <a:ea typeface="+mn-lt"/>
                <a:cs typeface="+mn-lt"/>
              </a:rPr>
              <a:t>as v0, only case 1, and we search in both directions for 3*jitter, so the time windows become symmetrical around the seed.</a:t>
            </a:r>
            <a:endParaRPr lang="en-US" sz="1600" b="1" dirty="0">
              <a:ea typeface="+mn-lt"/>
              <a:cs typeface="+mn-lt"/>
            </a:endParaRPr>
          </a:p>
          <a:p>
            <a:pPr marL="285750" indent="-285750">
              <a:buFont typeface="Arial" panose="020B0604020202020204" pitchFamily="34" charset="0"/>
              <a:buChar char="•"/>
            </a:pPr>
            <a:endParaRPr lang="en-US" sz="1600" b="1" dirty="0">
              <a:ea typeface="+mn-lt"/>
              <a:cs typeface="+mn-lt"/>
            </a:endParaRPr>
          </a:p>
          <a:p>
            <a:pPr marL="285750" indent="-285750">
              <a:buFont typeface="Arial" panose="020B0604020202020204" pitchFamily="34" charset="0"/>
              <a:buChar char="•"/>
            </a:pPr>
            <a:r>
              <a:rPr lang="en-US" sz="1600" b="1" dirty="0">
                <a:ea typeface="+mn-lt"/>
                <a:cs typeface="+mn-lt"/>
              </a:rPr>
              <a:t>Grouping algorithm</a:t>
            </a:r>
            <a:r>
              <a:rPr lang="en-US" sz="1600" dirty="0">
                <a:ea typeface="+mn-lt"/>
                <a:cs typeface="+mn-lt"/>
              </a:rPr>
              <a:t>: same as v2</a:t>
            </a:r>
          </a:p>
        </p:txBody>
      </p:sp>
      <p:pic>
        <p:nvPicPr>
          <p:cNvPr id="11" name="Picture 10">
            <a:extLst>
              <a:ext uri="{FF2B5EF4-FFF2-40B4-BE49-F238E27FC236}">
                <a16:creationId xmlns:a16="http://schemas.microsoft.com/office/drawing/2014/main" id="{2C103FE4-ACDC-054D-208C-D588BECC272C}"/>
              </a:ext>
            </a:extLst>
          </p:cNvPr>
          <p:cNvPicPr>
            <a:picLocks noChangeAspect="1"/>
          </p:cNvPicPr>
          <p:nvPr/>
        </p:nvPicPr>
        <p:blipFill>
          <a:blip r:embed="rId3"/>
          <a:srcRect b="43084"/>
          <a:stretch/>
        </p:blipFill>
        <p:spPr>
          <a:xfrm>
            <a:off x="447020" y="1074671"/>
            <a:ext cx="3988177" cy="2354330"/>
          </a:xfrm>
          <a:prstGeom prst="rect">
            <a:avLst/>
          </a:prstGeom>
        </p:spPr>
      </p:pic>
      <p:pic>
        <p:nvPicPr>
          <p:cNvPr id="3" name="Picture 2" descr="A graph of different colored lines&#10;&#10;AI-generated content may be incorrect.">
            <a:extLst>
              <a:ext uri="{FF2B5EF4-FFF2-40B4-BE49-F238E27FC236}">
                <a16:creationId xmlns:a16="http://schemas.microsoft.com/office/drawing/2014/main" id="{58D7A062-A9C7-4A53-CE2C-9C5936F21E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02403" y="3429000"/>
            <a:ext cx="4708803" cy="2943002"/>
          </a:xfrm>
          <a:prstGeom prst="rect">
            <a:avLst/>
          </a:prstGeom>
        </p:spPr>
      </p:pic>
    </p:spTree>
    <p:custDataLst>
      <p:tags r:id="rId1"/>
    </p:custDataLst>
    <p:extLst>
      <p:ext uri="{BB962C8B-B14F-4D97-AF65-F5344CB8AC3E}">
        <p14:creationId xmlns:p14="http://schemas.microsoft.com/office/powerpoint/2010/main" val="372088994"/>
      </p:ext>
    </p:extLst>
  </p:cSld>
  <p:clrMapOvr>
    <a:masterClrMapping/>
  </p:clrMapOvr>
  <mc:AlternateContent xmlns:mc="http://schemas.openxmlformats.org/markup-compatibility/2006" xmlns:p14="http://schemas.microsoft.com/office/powerpoint/2010/main">
    <mc:Choice Requires="p14">
      <p:transition spd="slow" p14:dur="2000" advTm="70855"/>
    </mc:Choice>
    <mc:Fallback xmlns="">
      <p:transition spd="slow" advTm="7085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A01D8-4903-7F63-3741-68F52AD6942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685BE4F-DBFC-4E06-504F-2B4D1E16BCF6}"/>
              </a:ext>
            </a:extLst>
          </p:cNvPr>
          <p:cNvSpPr txBox="1">
            <a:spLocks/>
          </p:cNvSpPr>
          <p:nvPr/>
        </p:nvSpPr>
        <p:spPr>
          <a:xfrm>
            <a:off x="1236000" y="270296"/>
            <a:ext cx="10515600" cy="633101"/>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GB" sz="2800" dirty="0"/>
              <a:t>Grouping algorithm version 4.2</a:t>
            </a:r>
            <a:endParaRPr lang="en-US" sz="2800" dirty="0" err="1"/>
          </a:p>
        </p:txBody>
      </p:sp>
      <p:sp>
        <p:nvSpPr>
          <p:cNvPr id="9" name="TextBox 8">
            <a:extLst>
              <a:ext uri="{FF2B5EF4-FFF2-40B4-BE49-F238E27FC236}">
                <a16:creationId xmlns:a16="http://schemas.microsoft.com/office/drawing/2014/main" id="{64D916A7-996B-1CC3-497D-7D0AF49F4A43}"/>
              </a:ext>
            </a:extLst>
          </p:cNvPr>
          <p:cNvSpPr txBox="1"/>
          <p:nvPr/>
        </p:nvSpPr>
        <p:spPr>
          <a:xfrm>
            <a:off x="5289550" y="1093078"/>
            <a:ext cx="6902450"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b="1" dirty="0">
                <a:ea typeface="+mn-lt"/>
                <a:cs typeface="+mn-lt"/>
              </a:rPr>
              <a:t>Seeding interaction: </a:t>
            </a:r>
            <a:r>
              <a:rPr lang="en-US" sz="1600" dirty="0">
                <a:ea typeface="+mn-lt"/>
                <a:cs typeface="+mn-lt"/>
              </a:rPr>
              <a:t>as v0</a:t>
            </a:r>
            <a:endParaRPr lang="en-US" sz="1600" b="1" dirty="0">
              <a:ea typeface="+mn-lt"/>
              <a:cs typeface="+mn-lt"/>
            </a:endParaRPr>
          </a:p>
          <a:p>
            <a:pPr marL="285750" indent="-285750">
              <a:buFont typeface="Arial" panose="020B0604020202020204" pitchFamily="34" charset="0"/>
              <a:buChar char="•"/>
            </a:pPr>
            <a:r>
              <a:rPr lang="en-US" sz="1600" b="1" dirty="0">
                <a:ea typeface="+mn-lt"/>
                <a:cs typeface="+mn-lt"/>
              </a:rPr>
              <a:t>Time window: </a:t>
            </a:r>
            <a:r>
              <a:rPr lang="en-US" sz="1600" dirty="0">
                <a:ea typeface="+mn-lt"/>
                <a:cs typeface="+mn-lt"/>
              </a:rPr>
              <a:t>as v0</a:t>
            </a:r>
            <a:endParaRPr lang="en-US" sz="1600" b="1" dirty="0">
              <a:ea typeface="+mn-lt"/>
              <a:cs typeface="+mn-lt"/>
            </a:endParaRPr>
          </a:p>
          <a:p>
            <a:pPr marL="285750" indent="-285750">
              <a:buFont typeface="Arial" panose="020B0604020202020204" pitchFamily="34" charset="0"/>
              <a:buChar char="•"/>
            </a:pPr>
            <a:endParaRPr lang="en-US" sz="1600" b="1" dirty="0">
              <a:ea typeface="+mn-lt"/>
              <a:cs typeface="+mn-lt"/>
            </a:endParaRPr>
          </a:p>
          <a:p>
            <a:pPr marL="285750" indent="-285750">
              <a:buFont typeface="Arial" panose="020B0604020202020204" pitchFamily="34" charset="0"/>
              <a:buChar char="•"/>
            </a:pPr>
            <a:r>
              <a:rPr lang="en-US" sz="1600" b="1" dirty="0">
                <a:ea typeface="+mn-lt"/>
                <a:cs typeface="+mn-lt"/>
              </a:rPr>
              <a:t>Grouping algorithm</a:t>
            </a:r>
            <a:r>
              <a:rPr lang="en-US" sz="1600" dirty="0">
                <a:ea typeface="+mn-lt"/>
                <a:cs typeface="+mn-lt"/>
              </a:rPr>
              <a:t>: We use the distributions of radii and energies to compute the likelihood terms associated to both. Then we compute all possible partitions of the interactions inside the time window and sum all the likelihood results that have the same group for the seed interaction (for example A in the image below or B). We then take the one with the highest likelihood as grouping for the seeding interaction.</a:t>
            </a:r>
            <a:endParaRPr lang="en-US" sz="1600" dirty="0">
              <a:ea typeface="+mn-lt"/>
              <a:cs typeface="+mn-lt"/>
              <a:sym typeface="Wingdings" panose="05000000000000000000" pitchFamily="2" charset="2"/>
            </a:endParaRPr>
          </a:p>
          <a:p>
            <a:endParaRPr lang="en-US" sz="1600" dirty="0">
              <a:ea typeface="+mn-lt"/>
              <a:cs typeface="+mn-lt"/>
              <a:sym typeface="Wingdings" panose="05000000000000000000" pitchFamily="2" charset="2"/>
            </a:endParaRPr>
          </a:p>
        </p:txBody>
      </p:sp>
      <p:pic>
        <p:nvPicPr>
          <p:cNvPr id="4" name="Picture 3">
            <a:extLst>
              <a:ext uri="{FF2B5EF4-FFF2-40B4-BE49-F238E27FC236}">
                <a16:creationId xmlns:a16="http://schemas.microsoft.com/office/drawing/2014/main" id="{8CD1EDB1-621A-B71A-C17D-CF1A33526034}"/>
              </a:ext>
            </a:extLst>
          </p:cNvPr>
          <p:cNvPicPr>
            <a:picLocks noChangeAspect="1"/>
          </p:cNvPicPr>
          <p:nvPr/>
        </p:nvPicPr>
        <p:blipFill>
          <a:blip r:embed="rId3"/>
          <a:stretch>
            <a:fillRect/>
          </a:stretch>
        </p:blipFill>
        <p:spPr>
          <a:xfrm>
            <a:off x="298450" y="4329747"/>
            <a:ext cx="6020107" cy="2442942"/>
          </a:xfrm>
          <a:prstGeom prst="rect">
            <a:avLst/>
          </a:prstGeom>
        </p:spPr>
      </p:pic>
      <p:pic>
        <p:nvPicPr>
          <p:cNvPr id="6" name="Picture 5" descr="A graph showing a number of lines&#10;&#10;AI-generated content may be incorrect.">
            <a:extLst>
              <a:ext uri="{FF2B5EF4-FFF2-40B4-BE49-F238E27FC236}">
                <a16:creationId xmlns:a16="http://schemas.microsoft.com/office/drawing/2014/main" id="{EF6CA90E-E4AB-251B-0C1B-EC2749F8D32D}"/>
              </a:ext>
            </a:extLst>
          </p:cNvPr>
          <p:cNvPicPr>
            <a:picLocks noChangeAspect="1"/>
          </p:cNvPicPr>
          <p:nvPr/>
        </p:nvPicPr>
        <p:blipFill>
          <a:blip r:embed="rId4">
            <a:extLst>
              <a:ext uri="{28A0092B-C50C-407E-A947-70E740481C1C}">
                <a14:useLocalDpi xmlns:a14="http://schemas.microsoft.com/office/drawing/2010/main" val="0"/>
              </a:ext>
            </a:extLst>
          </a:blip>
          <a:srcRect l="10138" t="8847" r="9531" b="6896"/>
          <a:stretch/>
        </p:blipFill>
        <p:spPr>
          <a:xfrm>
            <a:off x="54900" y="1205077"/>
            <a:ext cx="5039409" cy="2822989"/>
          </a:xfrm>
          <a:prstGeom prst="rect">
            <a:avLst/>
          </a:prstGeom>
        </p:spPr>
      </p:pic>
      <p:pic>
        <p:nvPicPr>
          <p:cNvPr id="8" name="Picture 7" descr="A graph of different colored lines&#10;&#10;AI-generated content may be incorrect.">
            <a:extLst>
              <a:ext uri="{FF2B5EF4-FFF2-40B4-BE49-F238E27FC236}">
                <a16:creationId xmlns:a16="http://schemas.microsoft.com/office/drawing/2014/main" id="{280929B2-B65D-A65E-BF0D-409B4C3A40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23203" y="3784600"/>
            <a:ext cx="4708803" cy="2943002"/>
          </a:xfrm>
          <a:prstGeom prst="rect">
            <a:avLst/>
          </a:prstGeom>
        </p:spPr>
      </p:pic>
    </p:spTree>
    <p:custDataLst>
      <p:tags r:id="rId1"/>
    </p:custDataLst>
    <p:extLst>
      <p:ext uri="{BB962C8B-B14F-4D97-AF65-F5344CB8AC3E}">
        <p14:creationId xmlns:p14="http://schemas.microsoft.com/office/powerpoint/2010/main" val="3988610626"/>
      </p:ext>
    </p:extLst>
  </p:cSld>
  <p:clrMapOvr>
    <a:masterClrMapping/>
  </p:clrMapOvr>
  <mc:AlternateContent xmlns:mc="http://schemas.openxmlformats.org/markup-compatibility/2006" xmlns:p14="http://schemas.microsoft.com/office/powerpoint/2010/main">
    <mc:Choice Requires="p14">
      <p:transition spd="slow" p14:dur="2000" advTm="70855"/>
    </mc:Choice>
    <mc:Fallback xmlns="">
      <p:transition spd="slow" advTm="7085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29617-ABE7-A98A-6802-FCBE0271F16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1B0EF26-D933-2EED-3965-4439D9AD5DCF}"/>
              </a:ext>
            </a:extLst>
          </p:cNvPr>
          <p:cNvSpPr txBox="1">
            <a:spLocks/>
          </p:cNvSpPr>
          <p:nvPr/>
        </p:nvSpPr>
        <p:spPr>
          <a:xfrm>
            <a:off x="1236000" y="270296"/>
            <a:ext cx="10515600" cy="633101"/>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GB" sz="2800" dirty="0"/>
              <a:t>Grouping algorithm version 4.4</a:t>
            </a:r>
            <a:endParaRPr lang="en-US" sz="2800" dirty="0" err="1"/>
          </a:p>
        </p:txBody>
      </p:sp>
      <p:sp>
        <p:nvSpPr>
          <p:cNvPr id="9" name="TextBox 8">
            <a:extLst>
              <a:ext uri="{FF2B5EF4-FFF2-40B4-BE49-F238E27FC236}">
                <a16:creationId xmlns:a16="http://schemas.microsoft.com/office/drawing/2014/main" id="{3E9DF6AD-60B2-5074-D617-86BED96934C3}"/>
              </a:ext>
            </a:extLst>
          </p:cNvPr>
          <p:cNvSpPr txBox="1"/>
          <p:nvPr/>
        </p:nvSpPr>
        <p:spPr>
          <a:xfrm>
            <a:off x="5289550" y="1093078"/>
            <a:ext cx="6902450"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b="1" dirty="0">
                <a:ea typeface="+mn-lt"/>
                <a:cs typeface="+mn-lt"/>
              </a:rPr>
              <a:t>Seeding interaction: </a:t>
            </a:r>
            <a:r>
              <a:rPr lang="en-US" sz="1600" dirty="0">
                <a:ea typeface="+mn-lt"/>
                <a:cs typeface="+mn-lt"/>
              </a:rPr>
              <a:t>as v0</a:t>
            </a:r>
            <a:endParaRPr lang="en-US" sz="1600" b="1" dirty="0">
              <a:ea typeface="+mn-lt"/>
              <a:cs typeface="+mn-lt"/>
            </a:endParaRPr>
          </a:p>
          <a:p>
            <a:pPr marL="285750" indent="-285750">
              <a:buFont typeface="Arial" panose="020B0604020202020204" pitchFamily="34" charset="0"/>
              <a:buChar char="•"/>
            </a:pPr>
            <a:r>
              <a:rPr lang="en-US" sz="1600" b="1" dirty="0">
                <a:ea typeface="+mn-lt"/>
                <a:cs typeface="+mn-lt"/>
              </a:rPr>
              <a:t>Time window: </a:t>
            </a:r>
            <a:r>
              <a:rPr lang="en-US" sz="1600" dirty="0">
                <a:ea typeface="+mn-lt"/>
                <a:cs typeface="+mn-lt"/>
              </a:rPr>
              <a:t>as v0</a:t>
            </a:r>
            <a:endParaRPr lang="en-US" sz="1600" b="1" dirty="0">
              <a:ea typeface="+mn-lt"/>
              <a:cs typeface="+mn-lt"/>
            </a:endParaRPr>
          </a:p>
          <a:p>
            <a:pPr marL="285750" indent="-285750">
              <a:buFont typeface="Arial" panose="020B0604020202020204" pitchFamily="34" charset="0"/>
              <a:buChar char="•"/>
            </a:pPr>
            <a:endParaRPr lang="en-US" sz="1600" b="1" dirty="0">
              <a:ea typeface="+mn-lt"/>
              <a:cs typeface="+mn-lt"/>
            </a:endParaRPr>
          </a:p>
          <a:p>
            <a:pPr marL="285750" indent="-285750">
              <a:buFont typeface="Arial" panose="020B0604020202020204" pitchFamily="34" charset="0"/>
              <a:buChar char="•"/>
            </a:pPr>
            <a:r>
              <a:rPr lang="en-US" sz="1600" b="1" dirty="0">
                <a:ea typeface="+mn-lt"/>
                <a:cs typeface="+mn-lt"/>
              </a:rPr>
              <a:t>Grouping algorithm</a:t>
            </a:r>
            <a:r>
              <a:rPr lang="en-US" sz="1600" dirty="0">
                <a:ea typeface="+mn-lt"/>
                <a:cs typeface="+mn-lt"/>
              </a:rPr>
              <a:t>: We use as for v2 to decide if the seed interaction is on its own or not, and if not we apply likelihood as in v4.2 to determine the likelihood of the possible groups containing the seed interaction and among the results we take the one with the highest likelihood as the correct group. (so no more computing all possible partitions).</a:t>
            </a:r>
          </a:p>
          <a:p>
            <a:pPr marL="285750" indent="-285750">
              <a:buFont typeface="Arial" panose="020B0604020202020204" pitchFamily="34" charset="0"/>
              <a:buChar char="•"/>
            </a:pPr>
            <a:endParaRPr lang="en-US" sz="1600" dirty="0">
              <a:ea typeface="+mn-lt"/>
              <a:cs typeface="+mn-lt"/>
              <a:sym typeface="Wingdings" panose="05000000000000000000" pitchFamily="2" charset="2"/>
            </a:endParaRPr>
          </a:p>
          <a:p>
            <a:r>
              <a:rPr lang="en-US" sz="1600" dirty="0">
                <a:ea typeface="+mn-lt"/>
                <a:cs typeface="+mn-lt"/>
                <a:sym typeface="Wingdings" panose="05000000000000000000" pitchFamily="2" charset="2"/>
              </a:rPr>
              <a:t>NB: this was tried also including a time likelihood depending on jitter and how close in time interactions are among them in the time window</a:t>
            </a:r>
          </a:p>
          <a:p>
            <a:endParaRPr lang="en-US" sz="1600" dirty="0">
              <a:ea typeface="+mn-lt"/>
              <a:cs typeface="+mn-lt"/>
              <a:sym typeface="Wingdings" panose="05000000000000000000" pitchFamily="2" charset="2"/>
            </a:endParaRPr>
          </a:p>
        </p:txBody>
      </p:sp>
      <p:pic>
        <p:nvPicPr>
          <p:cNvPr id="4" name="Picture 3">
            <a:extLst>
              <a:ext uri="{FF2B5EF4-FFF2-40B4-BE49-F238E27FC236}">
                <a16:creationId xmlns:a16="http://schemas.microsoft.com/office/drawing/2014/main" id="{642B0CED-F481-EA88-9275-9C4A0E56ED8C}"/>
              </a:ext>
            </a:extLst>
          </p:cNvPr>
          <p:cNvPicPr>
            <a:picLocks noChangeAspect="1"/>
          </p:cNvPicPr>
          <p:nvPr/>
        </p:nvPicPr>
        <p:blipFill>
          <a:blip r:embed="rId3"/>
          <a:stretch>
            <a:fillRect/>
          </a:stretch>
        </p:blipFill>
        <p:spPr>
          <a:xfrm>
            <a:off x="298450" y="4329747"/>
            <a:ext cx="6020107" cy="2442942"/>
          </a:xfrm>
          <a:prstGeom prst="rect">
            <a:avLst/>
          </a:prstGeom>
        </p:spPr>
      </p:pic>
      <p:pic>
        <p:nvPicPr>
          <p:cNvPr id="6" name="Picture 5" descr="A graph showing a number of lines&#10;&#10;AI-generated content may be incorrect.">
            <a:extLst>
              <a:ext uri="{FF2B5EF4-FFF2-40B4-BE49-F238E27FC236}">
                <a16:creationId xmlns:a16="http://schemas.microsoft.com/office/drawing/2014/main" id="{A5216CDD-26E9-7396-F4A6-AF95C603BAE2}"/>
              </a:ext>
            </a:extLst>
          </p:cNvPr>
          <p:cNvPicPr>
            <a:picLocks noChangeAspect="1"/>
          </p:cNvPicPr>
          <p:nvPr/>
        </p:nvPicPr>
        <p:blipFill>
          <a:blip r:embed="rId4">
            <a:extLst>
              <a:ext uri="{28A0092B-C50C-407E-A947-70E740481C1C}">
                <a14:useLocalDpi xmlns:a14="http://schemas.microsoft.com/office/drawing/2010/main" val="0"/>
              </a:ext>
            </a:extLst>
          </a:blip>
          <a:srcRect l="10138" t="8847" r="9531" b="6896"/>
          <a:stretch/>
        </p:blipFill>
        <p:spPr>
          <a:xfrm>
            <a:off x="54900" y="1205077"/>
            <a:ext cx="5039409" cy="2822989"/>
          </a:xfrm>
          <a:prstGeom prst="rect">
            <a:avLst/>
          </a:prstGeom>
        </p:spPr>
      </p:pic>
      <p:pic>
        <p:nvPicPr>
          <p:cNvPr id="8" name="Picture 7" descr="A graph of different colored lines&#10;&#10;AI-generated content may be incorrect.">
            <a:extLst>
              <a:ext uri="{FF2B5EF4-FFF2-40B4-BE49-F238E27FC236}">
                <a16:creationId xmlns:a16="http://schemas.microsoft.com/office/drawing/2014/main" id="{557F657B-7690-8BC6-3803-FC78B1F538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03900" y="3914998"/>
            <a:ext cx="4708803" cy="2943002"/>
          </a:xfrm>
          <a:prstGeom prst="rect">
            <a:avLst/>
          </a:prstGeom>
        </p:spPr>
      </p:pic>
      <p:sp>
        <p:nvSpPr>
          <p:cNvPr id="3" name="Multiplication Sign 2">
            <a:extLst>
              <a:ext uri="{FF2B5EF4-FFF2-40B4-BE49-F238E27FC236}">
                <a16:creationId xmlns:a16="http://schemas.microsoft.com/office/drawing/2014/main" id="{098325CA-8B5F-65DD-9267-C1EA2803D9AB}"/>
              </a:ext>
            </a:extLst>
          </p:cNvPr>
          <p:cNvSpPr/>
          <p:nvPr/>
        </p:nvSpPr>
        <p:spPr>
          <a:xfrm>
            <a:off x="234951" y="5701348"/>
            <a:ext cx="476250" cy="476250"/>
          </a:xfrm>
          <a:prstGeom prst="mathMultiply">
            <a:avLst>
              <a:gd name="adj1" fmla="val 571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5" name="Multiplication Sign 4">
            <a:extLst>
              <a:ext uri="{FF2B5EF4-FFF2-40B4-BE49-F238E27FC236}">
                <a16:creationId xmlns:a16="http://schemas.microsoft.com/office/drawing/2014/main" id="{1FC4F6C7-91BD-DF64-067C-467FFEEF3EF7}"/>
              </a:ext>
            </a:extLst>
          </p:cNvPr>
          <p:cNvSpPr/>
          <p:nvPr/>
        </p:nvSpPr>
        <p:spPr>
          <a:xfrm>
            <a:off x="521869" y="5701348"/>
            <a:ext cx="476250" cy="476250"/>
          </a:xfrm>
          <a:prstGeom prst="mathMultiply">
            <a:avLst>
              <a:gd name="adj1" fmla="val 571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10" name="Multiplication Sign 9">
            <a:extLst>
              <a:ext uri="{FF2B5EF4-FFF2-40B4-BE49-F238E27FC236}">
                <a16:creationId xmlns:a16="http://schemas.microsoft.com/office/drawing/2014/main" id="{B6796B38-036E-27FA-404B-2246AD779297}"/>
              </a:ext>
            </a:extLst>
          </p:cNvPr>
          <p:cNvSpPr/>
          <p:nvPr/>
        </p:nvSpPr>
        <p:spPr>
          <a:xfrm>
            <a:off x="823493" y="5701348"/>
            <a:ext cx="476250" cy="476250"/>
          </a:xfrm>
          <a:prstGeom prst="mathMultiply">
            <a:avLst>
              <a:gd name="adj1" fmla="val 571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11" name="Multiplication Sign 10">
            <a:extLst>
              <a:ext uri="{FF2B5EF4-FFF2-40B4-BE49-F238E27FC236}">
                <a16:creationId xmlns:a16="http://schemas.microsoft.com/office/drawing/2014/main" id="{89E60633-96A2-86EB-F5A7-0A4B316C49D9}"/>
              </a:ext>
            </a:extLst>
          </p:cNvPr>
          <p:cNvSpPr/>
          <p:nvPr/>
        </p:nvSpPr>
        <p:spPr>
          <a:xfrm>
            <a:off x="1125117" y="5701348"/>
            <a:ext cx="476250" cy="476250"/>
          </a:xfrm>
          <a:prstGeom prst="mathMultiply">
            <a:avLst>
              <a:gd name="adj1" fmla="val 571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12" name="Multiplication Sign 11">
            <a:extLst>
              <a:ext uri="{FF2B5EF4-FFF2-40B4-BE49-F238E27FC236}">
                <a16:creationId xmlns:a16="http://schemas.microsoft.com/office/drawing/2014/main" id="{C7964F9E-5E42-C44C-E160-1D00B68A76A2}"/>
              </a:ext>
            </a:extLst>
          </p:cNvPr>
          <p:cNvSpPr/>
          <p:nvPr/>
        </p:nvSpPr>
        <p:spPr>
          <a:xfrm>
            <a:off x="1423147" y="5701348"/>
            <a:ext cx="476250" cy="476250"/>
          </a:xfrm>
          <a:prstGeom prst="mathMultiply">
            <a:avLst>
              <a:gd name="adj1" fmla="val 571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13" name="Multiplication Sign 12">
            <a:extLst>
              <a:ext uri="{FF2B5EF4-FFF2-40B4-BE49-F238E27FC236}">
                <a16:creationId xmlns:a16="http://schemas.microsoft.com/office/drawing/2014/main" id="{14805D64-1049-78AA-1A78-3DCA86171176}"/>
              </a:ext>
            </a:extLst>
          </p:cNvPr>
          <p:cNvSpPr/>
          <p:nvPr/>
        </p:nvSpPr>
        <p:spPr>
          <a:xfrm>
            <a:off x="1724771" y="5701348"/>
            <a:ext cx="476250" cy="476250"/>
          </a:xfrm>
          <a:prstGeom prst="mathMultiply">
            <a:avLst>
              <a:gd name="adj1" fmla="val 571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14" name="Multiplication Sign 13">
            <a:extLst>
              <a:ext uri="{FF2B5EF4-FFF2-40B4-BE49-F238E27FC236}">
                <a16:creationId xmlns:a16="http://schemas.microsoft.com/office/drawing/2014/main" id="{162FE1D6-2C8E-1E1D-EE35-63615057745E}"/>
              </a:ext>
            </a:extLst>
          </p:cNvPr>
          <p:cNvSpPr/>
          <p:nvPr/>
        </p:nvSpPr>
        <p:spPr>
          <a:xfrm>
            <a:off x="1208836" y="6003029"/>
            <a:ext cx="476250" cy="476250"/>
          </a:xfrm>
          <a:prstGeom prst="mathMultiply">
            <a:avLst>
              <a:gd name="adj1" fmla="val 571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16" name="Multiplication Sign 15">
            <a:extLst>
              <a:ext uri="{FF2B5EF4-FFF2-40B4-BE49-F238E27FC236}">
                <a16:creationId xmlns:a16="http://schemas.microsoft.com/office/drawing/2014/main" id="{39D5A245-D74F-E7D5-6E5C-AC538EF9F8BA}"/>
              </a:ext>
            </a:extLst>
          </p:cNvPr>
          <p:cNvSpPr/>
          <p:nvPr/>
        </p:nvSpPr>
        <p:spPr>
          <a:xfrm>
            <a:off x="1541625" y="6003029"/>
            <a:ext cx="476250" cy="476250"/>
          </a:xfrm>
          <a:prstGeom prst="mathMultiply">
            <a:avLst>
              <a:gd name="adj1" fmla="val 571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18" name="Multiplication Sign 17">
            <a:extLst>
              <a:ext uri="{FF2B5EF4-FFF2-40B4-BE49-F238E27FC236}">
                <a16:creationId xmlns:a16="http://schemas.microsoft.com/office/drawing/2014/main" id="{8BABEA56-4BE0-E3D4-06D8-2EEC14D80B19}"/>
              </a:ext>
            </a:extLst>
          </p:cNvPr>
          <p:cNvSpPr/>
          <p:nvPr/>
        </p:nvSpPr>
        <p:spPr>
          <a:xfrm>
            <a:off x="1812084" y="6029747"/>
            <a:ext cx="476250" cy="476250"/>
          </a:xfrm>
          <a:prstGeom prst="mathMultiply">
            <a:avLst>
              <a:gd name="adj1" fmla="val 571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Tree>
    <p:custDataLst>
      <p:tags r:id="rId1"/>
    </p:custDataLst>
    <p:extLst>
      <p:ext uri="{BB962C8B-B14F-4D97-AF65-F5344CB8AC3E}">
        <p14:creationId xmlns:p14="http://schemas.microsoft.com/office/powerpoint/2010/main" val="3851281918"/>
      </p:ext>
    </p:extLst>
  </p:cSld>
  <p:clrMapOvr>
    <a:masterClrMapping/>
  </p:clrMapOvr>
  <mc:AlternateContent xmlns:mc="http://schemas.openxmlformats.org/markup-compatibility/2006" xmlns:p14="http://schemas.microsoft.com/office/powerpoint/2010/main">
    <mc:Choice Requires="p14">
      <p:transition spd="slow" p14:dur="2000" advTm="70855"/>
    </mc:Choice>
    <mc:Fallback xmlns="">
      <p:transition spd="slow" advTm="7085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DCEC5-FBC4-7000-8D72-6EA34543666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9EF2FB9-782D-1501-6B7A-B79267814C51}"/>
              </a:ext>
            </a:extLst>
          </p:cNvPr>
          <p:cNvSpPr txBox="1">
            <a:spLocks/>
          </p:cNvSpPr>
          <p:nvPr/>
        </p:nvSpPr>
        <p:spPr>
          <a:xfrm>
            <a:off x="1236000" y="270296"/>
            <a:ext cx="10515600" cy="633101"/>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GB" sz="2800" dirty="0"/>
              <a:t>Grouping results accuracy</a:t>
            </a:r>
            <a:endParaRPr lang="en-US" sz="2800" dirty="0" err="1"/>
          </a:p>
        </p:txBody>
      </p:sp>
      <p:pic>
        <p:nvPicPr>
          <p:cNvPr id="8" name="Picture 7" descr="A graph of different colored lines&#10;&#10;AI-generated content may be incorrect.">
            <a:extLst>
              <a:ext uri="{FF2B5EF4-FFF2-40B4-BE49-F238E27FC236}">
                <a16:creationId xmlns:a16="http://schemas.microsoft.com/office/drawing/2014/main" id="{A9EC9348-DDB4-27C2-89A0-0ED482F1B5B5}"/>
              </a:ext>
            </a:extLst>
          </p:cNvPr>
          <p:cNvPicPr>
            <a:picLocks noChangeAspect="1"/>
          </p:cNvPicPr>
          <p:nvPr/>
        </p:nvPicPr>
        <p:blipFill>
          <a:blip r:embed="rId3">
            <a:extLst>
              <a:ext uri="{28A0092B-C50C-407E-A947-70E740481C1C}">
                <a14:useLocalDpi xmlns:a14="http://schemas.microsoft.com/office/drawing/2010/main" val="0"/>
              </a:ext>
            </a:extLst>
          </a:blip>
          <a:srcRect l="9322" t="8552" r="9115" b="6925"/>
          <a:stretch/>
        </p:blipFill>
        <p:spPr>
          <a:xfrm>
            <a:off x="0" y="2114550"/>
            <a:ext cx="8570395" cy="4743450"/>
          </a:xfrm>
          <a:prstGeom prst="rect">
            <a:avLst/>
          </a:prstGeom>
        </p:spPr>
      </p:pic>
      <p:sp>
        <p:nvSpPr>
          <p:cNvPr id="10" name="TextBox 9">
            <a:extLst>
              <a:ext uri="{FF2B5EF4-FFF2-40B4-BE49-F238E27FC236}">
                <a16:creationId xmlns:a16="http://schemas.microsoft.com/office/drawing/2014/main" id="{189C7883-77A1-68CA-0A81-4A990E6D8808}"/>
              </a:ext>
            </a:extLst>
          </p:cNvPr>
          <p:cNvSpPr txBox="1"/>
          <p:nvPr/>
        </p:nvSpPr>
        <p:spPr>
          <a:xfrm>
            <a:off x="661203" y="1179944"/>
            <a:ext cx="1117519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b="1" dirty="0">
                <a:ea typeface="+mn-lt"/>
                <a:cs typeface="+mn-lt"/>
              </a:rPr>
              <a:t>Version 3 and 2 are overall the best: </a:t>
            </a:r>
            <a:r>
              <a:rPr lang="en-US" sz="1600" dirty="0">
                <a:ea typeface="+mn-lt"/>
                <a:cs typeface="+mn-lt"/>
              </a:rPr>
              <a:t>for now we will use version 2 since for version 3 all the low energy interactions left after grouping the high energy seeds, would reduce the improvement in accuracy so it becomes similar to version 2 at the cost of a longer computation time.</a:t>
            </a:r>
          </a:p>
        </p:txBody>
      </p:sp>
      <p:sp>
        <p:nvSpPr>
          <p:cNvPr id="12" name="TextBox 11">
            <a:extLst>
              <a:ext uri="{FF2B5EF4-FFF2-40B4-BE49-F238E27FC236}">
                <a16:creationId xmlns:a16="http://schemas.microsoft.com/office/drawing/2014/main" id="{1B894A83-FC5D-0A70-ED99-828264CAD66F}"/>
              </a:ext>
            </a:extLst>
          </p:cNvPr>
          <p:cNvSpPr txBox="1"/>
          <p:nvPr/>
        </p:nvSpPr>
        <p:spPr>
          <a:xfrm>
            <a:off x="8605053" y="2342629"/>
            <a:ext cx="3478997"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panose="020B0604020202020204" pitchFamily="34" charset="0"/>
              <a:buChar char="•"/>
            </a:pPr>
            <a:r>
              <a:rPr lang="en-US" sz="1600" b="1" dirty="0">
                <a:ea typeface="+mn-lt"/>
                <a:cs typeface="+mn-lt"/>
              </a:rPr>
              <a:t>Why are simplified likelihood approaches not working?</a:t>
            </a:r>
          </a:p>
          <a:p>
            <a:pPr algn="just"/>
            <a:r>
              <a:rPr lang="en-US" sz="1400" dirty="0">
                <a:ea typeface="+mn-lt"/>
                <a:cs typeface="+mn-lt"/>
              </a:rPr>
              <a:t>The answer seems to be that inherently in the likelihood functions, if we compare the likelihood for 1 interactions with the one for 2 or more, we would have different magnitude in the average likelihood values due to more terms being multiplied. This could be maybe corrected by normalizing the likelihood (maybe using the log likelihood) but so far I could not manage to efficiently do so.</a:t>
            </a:r>
          </a:p>
          <a:p>
            <a:pPr algn="just"/>
            <a:endParaRPr lang="en-US" sz="1400" dirty="0">
              <a:ea typeface="+mn-lt"/>
              <a:cs typeface="+mn-lt"/>
            </a:endParaRPr>
          </a:p>
          <a:p>
            <a:pPr algn="just"/>
            <a:r>
              <a:rPr lang="en-US" sz="1400" dirty="0">
                <a:ea typeface="+mn-lt"/>
                <a:cs typeface="+mn-lt"/>
              </a:rPr>
              <a:t>Even with Per likelihood the same problem would persist and if we want to implement it for something like algorithm v2, we would need a threshold to decide when to stop or continue.</a:t>
            </a:r>
          </a:p>
        </p:txBody>
      </p:sp>
    </p:spTree>
    <p:custDataLst>
      <p:tags r:id="rId1"/>
    </p:custDataLst>
    <p:extLst>
      <p:ext uri="{BB962C8B-B14F-4D97-AF65-F5344CB8AC3E}">
        <p14:creationId xmlns:p14="http://schemas.microsoft.com/office/powerpoint/2010/main" val="789150671"/>
      </p:ext>
    </p:extLst>
  </p:cSld>
  <p:clrMapOvr>
    <a:masterClrMapping/>
  </p:clrMapOvr>
  <mc:AlternateContent xmlns:mc="http://schemas.openxmlformats.org/markup-compatibility/2006" xmlns:p14="http://schemas.microsoft.com/office/powerpoint/2010/main">
    <mc:Choice Requires="p14">
      <p:transition spd="slow" p14:dur="2000" advTm="70855"/>
    </mc:Choice>
    <mc:Fallback xmlns="">
      <p:transition spd="slow" advTm="7085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598E5-4766-6B1D-1511-2CEF3574A35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A9CBF5C-A8FC-DE8B-B857-A16A9717BF92}"/>
              </a:ext>
            </a:extLst>
          </p:cNvPr>
          <p:cNvSpPr txBox="1">
            <a:spLocks/>
          </p:cNvSpPr>
          <p:nvPr/>
        </p:nvSpPr>
        <p:spPr>
          <a:xfrm>
            <a:off x="1236000" y="270296"/>
            <a:ext cx="10515600" cy="633101"/>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GB" sz="2800" dirty="0"/>
              <a:t>Grouping results accuracy</a:t>
            </a:r>
            <a:endParaRPr lang="en-US" sz="2800" dirty="0" err="1"/>
          </a:p>
        </p:txBody>
      </p:sp>
      <p:pic>
        <p:nvPicPr>
          <p:cNvPr id="8" name="Picture 7" descr="A graph of different colored lines&#10;&#10;AI-generated content may be incorrect.">
            <a:extLst>
              <a:ext uri="{FF2B5EF4-FFF2-40B4-BE49-F238E27FC236}">
                <a16:creationId xmlns:a16="http://schemas.microsoft.com/office/drawing/2014/main" id="{5C306B13-52ED-CE27-A02C-597336A304D0}"/>
              </a:ext>
            </a:extLst>
          </p:cNvPr>
          <p:cNvPicPr>
            <a:picLocks noChangeAspect="1"/>
          </p:cNvPicPr>
          <p:nvPr/>
        </p:nvPicPr>
        <p:blipFill>
          <a:blip r:embed="rId3">
            <a:extLst>
              <a:ext uri="{28A0092B-C50C-407E-A947-70E740481C1C}">
                <a14:useLocalDpi xmlns:a14="http://schemas.microsoft.com/office/drawing/2010/main" val="0"/>
              </a:ext>
            </a:extLst>
          </a:blip>
          <a:srcRect l="9322" t="8552" r="9115" b="6925"/>
          <a:stretch/>
        </p:blipFill>
        <p:spPr>
          <a:xfrm>
            <a:off x="0" y="246149"/>
            <a:ext cx="11946194" cy="6611851"/>
          </a:xfrm>
          <a:prstGeom prst="rect">
            <a:avLst/>
          </a:prstGeom>
        </p:spPr>
      </p:pic>
    </p:spTree>
    <p:custDataLst>
      <p:tags r:id="rId1"/>
    </p:custDataLst>
    <p:extLst>
      <p:ext uri="{BB962C8B-B14F-4D97-AF65-F5344CB8AC3E}">
        <p14:creationId xmlns:p14="http://schemas.microsoft.com/office/powerpoint/2010/main" val="4068092768"/>
      </p:ext>
    </p:extLst>
  </p:cSld>
  <p:clrMapOvr>
    <a:masterClrMapping/>
  </p:clrMapOvr>
  <mc:AlternateContent xmlns:mc="http://schemas.openxmlformats.org/markup-compatibility/2006" xmlns:p14="http://schemas.microsoft.com/office/powerpoint/2010/main">
    <mc:Choice Requires="p14">
      <p:transition spd="slow" p14:dur="2000" advTm="70855"/>
    </mc:Choice>
    <mc:Fallback xmlns="">
      <p:transition spd="slow" advTm="7085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9D65C-DDE0-2D67-B670-19DFB90ED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743FC-5BCE-A0A5-A187-5A5E29558843}"/>
              </a:ext>
            </a:extLst>
          </p:cNvPr>
          <p:cNvSpPr>
            <a:spLocks noGrp="1"/>
          </p:cNvSpPr>
          <p:nvPr>
            <p:ph type="ctrTitle"/>
          </p:nvPr>
        </p:nvSpPr>
        <p:spPr>
          <a:xfrm>
            <a:off x="703385" y="2756231"/>
            <a:ext cx="11094293" cy="2387600"/>
          </a:xfrm>
        </p:spPr>
        <p:txBody>
          <a:bodyPr/>
          <a:lstStyle/>
          <a:p>
            <a:r>
              <a:rPr lang="en-GB" dirty="0"/>
              <a:t>Thank you for your attention!</a:t>
            </a:r>
            <a:endParaRPr lang="en-SE" dirty="0"/>
          </a:p>
        </p:txBody>
      </p:sp>
      <p:sp>
        <p:nvSpPr>
          <p:cNvPr id="3" name="Subtitle 2">
            <a:extLst>
              <a:ext uri="{FF2B5EF4-FFF2-40B4-BE49-F238E27FC236}">
                <a16:creationId xmlns:a16="http://schemas.microsoft.com/office/drawing/2014/main" id="{21ACB07D-12A2-2D20-7550-F7FA0A5FFD61}"/>
              </a:ext>
            </a:extLst>
          </p:cNvPr>
          <p:cNvSpPr>
            <a:spLocks noGrp="1"/>
          </p:cNvSpPr>
          <p:nvPr>
            <p:ph type="subTitle" idx="1"/>
          </p:nvPr>
        </p:nvSpPr>
        <p:spPr>
          <a:xfrm>
            <a:off x="1524000" y="4958450"/>
            <a:ext cx="9144000" cy="1655762"/>
          </a:xfrm>
        </p:spPr>
        <p:txBody>
          <a:bodyPr/>
          <a:lstStyle/>
          <a:p>
            <a:r>
              <a:rPr lang="en-GB" dirty="0"/>
              <a:t>Any questions?</a:t>
            </a:r>
          </a:p>
        </p:txBody>
      </p:sp>
    </p:spTree>
    <p:extLst>
      <p:ext uri="{BB962C8B-B14F-4D97-AF65-F5344CB8AC3E}">
        <p14:creationId xmlns:p14="http://schemas.microsoft.com/office/powerpoint/2010/main" val="4251590630"/>
      </p:ext>
    </p:extLst>
  </p:cSld>
  <p:clrMapOvr>
    <a:masterClrMapping/>
  </p:clrMapOvr>
  <mc:AlternateContent xmlns:mc="http://schemas.openxmlformats.org/markup-compatibility/2006" xmlns:p14="http://schemas.microsoft.com/office/powerpoint/2010/main">
    <mc:Choice Requires="p14">
      <p:transition spd="slow" p14:dur="2000" advTm="12354"/>
    </mc:Choice>
    <mc:Fallback xmlns="">
      <p:transition spd="slow" advTm="12354"/>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20.6|23.2"/>
</p:tagLst>
</file>

<file path=ppt/tags/tag2.xml><?xml version="1.0" encoding="utf-8"?>
<p:tagLst xmlns:a="http://schemas.openxmlformats.org/drawingml/2006/main" xmlns:r="http://schemas.openxmlformats.org/officeDocument/2006/relationships" xmlns:p="http://schemas.openxmlformats.org/presentationml/2006/main">
  <p:tag name="TIMING" val="|20.6|23.2"/>
</p:tagLst>
</file>

<file path=ppt/tags/tag3.xml><?xml version="1.0" encoding="utf-8"?>
<p:tagLst xmlns:a="http://schemas.openxmlformats.org/drawingml/2006/main" xmlns:r="http://schemas.openxmlformats.org/officeDocument/2006/relationships" xmlns:p="http://schemas.openxmlformats.org/presentationml/2006/main">
  <p:tag name="TIMING" val="|20.6|23.2"/>
</p:tagLst>
</file>

<file path=ppt/tags/tag4.xml><?xml version="1.0" encoding="utf-8"?>
<p:tagLst xmlns:a="http://schemas.openxmlformats.org/drawingml/2006/main" xmlns:r="http://schemas.openxmlformats.org/officeDocument/2006/relationships" xmlns:p="http://schemas.openxmlformats.org/presentationml/2006/main">
  <p:tag name="TIMING" val="|20.6|23.2"/>
</p:tagLst>
</file>

<file path=ppt/tags/tag5.xml><?xml version="1.0" encoding="utf-8"?>
<p:tagLst xmlns:a="http://schemas.openxmlformats.org/drawingml/2006/main" xmlns:r="http://schemas.openxmlformats.org/officeDocument/2006/relationships" xmlns:p="http://schemas.openxmlformats.org/presentationml/2006/main">
  <p:tag name="TIMING" val="|20.6|23.2"/>
</p:tagLst>
</file>

<file path=ppt/tags/tag6.xml><?xml version="1.0" encoding="utf-8"?>
<p:tagLst xmlns:a="http://schemas.openxmlformats.org/drawingml/2006/main" xmlns:r="http://schemas.openxmlformats.org/officeDocument/2006/relationships" xmlns:p="http://schemas.openxmlformats.org/presentationml/2006/main">
  <p:tag name="TIMING" val="|20.6|23.2"/>
</p:tagLst>
</file>

<file path=ppt/tags/tag7.xml><?xml version="1.0" encoding="utf-8"?>
<p:tagLst xmlns:a="http://schemas.openxmlformats.org/drawingml/2006/main" xmlns:r="http://schemas.openxmlformats.org/officeDocument/2006/relationships" xmlns:p="http://schemas.openxmlformats.org/presentationml/2006/main">
  <p:tag name="TIMING" val="|20.6|23.2"/>
</p:tagLst>
</file>

<file path=ppt/tags/tag8.xml><?xml version="1.0" encoding="utf-8"?>
<p:tagLst xmlns:a="http://schemas.openxmlformats.org/drawingml/2006/main" xmlns:r="http://schemas.openxmlformats.org/officeDocument/2006/relationships" xmlns:p="http://schemas.openxmlformats.org/presentationml/2006/main">
  <p:tag name="TIMING" val="|20.6|23.2"/>
</p:tagLst>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PPT figtree 240110</Template>
  <TotalTime>2295</TotalTime>
  <Words>976</Words>
  <Application>Microsoft Office PowerPoint</Application>
  <PresentationFormat>Widescreen</PresentationFormat>
  <Paragraphs>51</Paragraphs>
  <Slides>10</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Figtree</vt:lpstr>
      <vt:lpstr>Office-tema</vt:lpstr>
      <vt:lpstr>CSA and timings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Luca Terenzi</dc:creator>
  <cp:lastModifiedBy>Luca Terenzi</cp:lastModifiedBy>
  <cp:revision>179</cp:revision>
  <dcterms:created xsi:type="dcterms:W3CDTF">2024-11-21T14:49:56Z</dcterms:created>
  <dcterms:modified xsi:type="dcterms:W3CDTF">2026-02-19T09:02:53Z</dcterms:modified>
</cp:coreProperties>
</file>